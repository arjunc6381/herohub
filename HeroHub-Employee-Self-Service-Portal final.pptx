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Familjen Grotesk"/>
      <p:regular r:id="rId201314"/>
    </p:embeddedFont>
    <p:embeddedFont>
      <p:font typeface="Familjen Grotesk Bold"/>
      <p:regular r:id="rId201315"/>
    </p:embeddedFont>
    <p:embeddedFont>
      <p:font typeface="Onest"/>
      <p:regular r:id="rId201316"/>
    </p:embeddedFont>
    <p:embeddedFont>
      <p:font typeface="Onest SemiBold"/>
      <p:regular r:id="rId201317"/>
    </p:embeddedFont>
    <p:embeddedFont>
      <p:font typeface="Onest Bold"/>
      <p:regular r:id="rId2013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reviews my 30-day internship at Fantasy Solution, Trichy. I will introduce HeroHub, explain how it was designed and built, and close with the skills gained and the future work that could take the portal toward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internship focused on web development and modern application architecture. The project was HeroHub, an employee self-service portal. The main technologies were Java 17, Spring Boot 3, Thymeleaf, HTML5, CSS3, JavaScript, and Bootstrap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challenge was that manual records can become inconsistent, duplicated, and slow to search. HeroHub addresses this by organizing employee records in one portal. The result combines directory search, profile views, forms, and dashboard metrics so workforce information is easier to see and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progressed in four stages. I began with Java foundations and object-oriented programming. I then moved into frontend and Spring Boot fundamentals, built the main application layers and modules, and finished with search, testing, documentation, polish, and final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HeroHub uses a layered design. The user interface handles the visible pages. The controller receives web requests, the service applies validation and business logic, and the repository manages employee records. The current data layer uses ConcurrentHashMap and List in memory. This separation makes the application easier to understand and maintain.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portal is useful at a glance because it brings together six capabilities. The dashboard gives an overview, while the directory, forms, profile view, and search support everyday employee information tasks. The OOP model is also reflected in the application, with Employee extending the Person base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typical user journey starts at the dashboard and continues to the employee directory. The user can search by Employee ID, name, department, or designation, then open a profile or add/edit form. The design also reflects object-oriented ideas: encapsulation keeps fields private, while inheritance lets Employee reuse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technology choices connected directly to practical outcomes. The backend used Java, Spring Boot, and Spring MVC. The frontend used Thymeleaf and standard web technologies. Data was held in memory, and tools such as Maven, Git, GitHub, an IDE, and embedded Tomcat supported development. I built pages, forms, search, validation, testing, OOP, and layered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internship helped me move from classroom knowledge to a complete working portal. I practised Spring Boot architecture, Thymeleaf views, responsive design, testing, and debugging. I also learned why presentation, business logic, and data access should be separated. Overall, the experience strengthened both technical skill and delivery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HeroHub is the result of a 30-day internship and a strong foundation for future production work. The completed work includes a working employee portal and experience across Java, Spring Boot, OOP, architecture, integration, testing, and debugging. Future work includes a persistent database, stronger authentication and access control, report exports, and deployment readiness. Thank you. I welcome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D174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35000"/>
            </a:srgbClr>
          </a:solidFill>
          <a:ln/>
        </p:spPr>
      </p:sp>
      <p:pic>
        <p:nvPicPr>
          <p:cNvPr id="4"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0D174F"/>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bg>
      <p:bgPr>
        <a:solidFill>
          <a:srgbClr val="0D174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35000"/>
            </a:srgbClr>
          </a:solidFill>
          <a:ln/>
        </p:spPr>
      </p:sp>
      <p:pic>
        <p:nvPicPr>
          <p:cNvPr id="4"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09585" y="1416745"/>
            <a:ext cx="10972526" cy="308570"/>
          </a:xfrm>
          <a:prstGeom prst="rect">
            <a:avLst/>
          </a:prstGeom>
          <a:noFill/>
          <a:ln/>
        </p:spPr>
        <p:txBody>
          <a:bodyPr wrap="none" lIns="0" tIns="0" rIns="0" bIns="0" rtlCol="0" anchor="t"/>
          <a:lstStyle/>
          <a:p>
            <a:pPr algn="l" indent="0" marL="0">
              <a:lnSpc>
                <a:spcPct val="113000"/>
              </a:lnSpc>
              <a:buNone/>
            </a:pPr>
            <a:r>
              <a:rPr lang="en-US" sz="1800" spc="144" kern="100" dirty="0">
                <a:solidFill>
                  <a:srgbClr val="FFFFFF"/>
                </a:solidFill>
                <a:latin typeface="Onest" pitchFamily="34" charset="0"/>
                <a:ea typeface="Onest" pitchFamily="34" charset="-122"/>
                <a:cs typeface="Onest" pitchFamily="34" charset="-120"/>
              </a:rPr>
              <a:t>SUMMER INTERNSHIP REVIEW</a:t>
            </a:r>
            <a:endParaRPr lang="en-US" sz="1800" dirty="0"/>
          </a:p>
        </p:txBody>
      </p:sp>
      <p:sp>
        <p:nvSpPr>
          <p:cNvPr id="3" name="Text 1"/>
          <p:cNvSpPr/>
          <p:nvPr/>
        </p:nvSpPr>
        <p:spPr>
          <a:xfrm>
            <a:off x="609585" y="1994723"/>
            <a:ext cx="10972526" cy="1393825"/>
          </a:xfrm>
          <a:prstGeom prst="rect">
            <a:avLst/>
          </a:prstGeom>
          <a:noFill/>
          <a:ln/>
        </p:spPr>
        <p:txBody>
          <a:bodyPr wrap="square" lIns="0" tIns="0" rIns="0" bIns="0" rtlCol="0" anchor="t">
            <a:normAutofit/>
          </a:bodyPr>
          <a:lstStyle/>
          <a:p>
            <a:pPr algn="l" indent="0" marL="0">
              <a:lnSpc>
                <a:spcPct val="82000"/>
              </a:lnSpc>
              <a:buNone/>
            </a:pPr>
            <a:r>
              <a:rPr lang="en-US" sz="5600" b="1" spc="-168" kern="100" dirty="0">
                <a:solidFill>
                  <a:srgbClr val="FFFFFF"/>
                </a:solidFill>
                <a:latin typeface="Familjen Grotesk Bold" pitchFamily="34" charset="0"/>
                <a:ea typeface="Familjen Grotesk Bold" pitchFamily="34" charset="-122"/>
                <a:cs typeface="Familjen Grotesk Bold" pitchFamily="34" charset="-120"/>
              </a:rPr>
              <a:t>HeroHub — Employee</a:t>
            </a:r>
            <a:endParaRPr lang="en-US" sz="5600" dirty="0"/>
          </a:p>
          <a:p>
            <a:pPr algn="l" indent="0" marL="0">
              <a:lnSpc>
                <a:spcPct val="82000"/>
              </a:lnSpc>
              <a:buNone/>
            </a:pPr>
            <a:r>
              <a:rPr lang="en-US" sz="5600" b="1" spc="-168" kern="100" dirty="0">
                <a:solidFill>
                  <a:srgbClr val="FFFFFF"/>
                </a:solidFill>
                <a:latin typeface="Familjen Grotesk Bold" pitchFamily="34" charset="0"/>
                <a:ea typeface="Familjen Grotesk Bold" pitchFamily="34" charset="-122"/>
                <a:cs typeface="Familjen Grotesk Bold" pitchFamily="34" charset="-120"/>
              </a:rPr>
              <a:t>Self-Service Portal</a:t>
            </a:r>
            <a:endParaRPr lang="en-US" sz="5600" dirty="0"/>
          </a:p>
        </p:txBody>
      </p:sp>
      <p:sp>
        <p:nvSpPr>
          <p:cNvPr id="4" name="Shape 2"/>
          <p:cNvSpPr/>
          <p:nvPr/>
        </p:nvSpPr>
        <p:spPr>
          <a:xfrm>
            <a:off x="609585" y="3600152"/>
            <a:ext cx="234547" cy="31651"/>
          </a:xfrm>
          <a:prstGeom prst="roundRect">
            <a:avLst>
              <a:gd name="adj" fmla="val 49998"/>
            </a:avLst>
          </a:prstGeom>
          <a:solidFill>
            <a:srgbClr val="7FA6F2"/>
          </a:solidFill>
          <a:ln/>
        </p:spPr>
      </p:sp>
      <p:sp>
        <p:nvSpPr>
          <p:cNvPr id="5" name="Text 3"/>
          <p:cNvSpPr/>
          <p:nvPr/>
        </p:nvSpPr>
        <p:spPr>
          <a:xfrm>
            <a:off x="609585" y="3858915"/>
            <a:ext cx="11582110" cy="280392"/>
          </a:xfrm>
          <a:prstGeom prst="rect">
            <a:avLst/>
          </a:prstGeom>
          <a:noFill/>
          <a:ln/>
        </p:spPr>
        <p:txBody>
          <a:bodyPr wrap="none" lIns="0" tIns="0" rIns="0" bIns="0" rtlCol="0" anchor="t"/>
          <a:lstStyle/>
          <a:p>
            <a:pPr algn="l" indent="0" marL="0">
              <a:lnSpc>
                <a:spcPct val="115000"/>
              </a:lnSpc>
              <a:buNone/>
            </a:pPr>
            <a:r>
              <a:rPr lang="en-US" sz="1600" spc="32" kern="100" dirty="0">
                <a:solidFill>
                  <a:srgbClr val="FFFFFF"/>
                </a:solidFill>
                <a:latin typeface="Onest" pitchFamily="34" charset="0"/>
                <a:ea typeface="Onest" pitchFamily="34" charset="-122"/>
                <a:cs typeface="Onest" pitchFamily="34" charset="-120"/>
              </a:rPr>
              <a:t>Arjun C · 810023205076</a:t>
            </a:r>
            <a:endParaRPr lang="en-US" sz="1600" dirty="0"/>
          </a:p>
        </p:txBody>
      </p:sp>
      <p:sp>
        <p:nvSpPr>
          <p:cNvPr id="6" name="Text 4"/>
          <p:cNvSpPr/>
          <p:nvPr/>
        </p:nvSpPr>
        <p:spPr>
          <a:xfrm>
            <a:off x="609585" y="4317107"/>
            <a:ext cx="10972526" cy="1124049"/>
          </a:xfrm>
          <a:prstGeom prst="rect">
            <a:avLst/>
          </a:prstGeom>
          <a:noFill/>
          <a:ln/>
        </p:spPr>
        <p:txBody>
          <a:bodyPr wrap="square" lIns="0" tIns="0" rIns="0" bIns="0" rtlCol="0" anchor="t">
            <a:normAutofit/>
          </a:bodyPr>
          <a:lstStyle/>
          <a:p>
            <a:pPr algn="l" indent="0" marL="0">
              <a:lnSpc>
                <a:spcPct val="115000"/>
              </a:lnSpc>
              <a:spcAft>
                <a:spcPts val="1350"/>
              </a:spcAft>
              <a:buNone/>
            </a:pPr>
            <a:r>
              <a:rPr lang="en-US" sz="1800" dirty="0">
                <a:solidFill>
                  <a:srgbClr val="FFFFFF"/>
                </a:solidFill>
                <a:latin typeface="Onest" pitchFamily="34" charset="0"/>
                <a:ea typeface="Onest" pitchFamily="34" charset="-122"/>
                <a:cs typeface="Onest" pitchFamily="34" charset="-120"/>
              </a:rPr>
              <a:t>B.Tech Information Technology · University College of Engineering, BIT Campus · Anna University, Tiruchirappalli</a:t>
            </a:r>
            <a:endParaRPr lang="en-US" sz="1800" dirty="0"/>
          </a:p>
          <a:p>
            <a:pPr algn="l" indent="0" marL="0">
              <a:lnSpc>
                <a:spcPct val="115000"/>
              </a:lnSpc>
              <a:buNone/>
            </a:pPr>
            <a:r>
              <a:rPr lang="en-US" sz="1800" dirty="0">
                <a:solidFill>
                  <a:srgbClr val="FFFFFF"/>
                </a:solidFill>
                <a:latin typeface="Onest" pitchFamily="34" charset="0"/>
                <a:ea typeface="Onest" pitchFamily="34" charset="-122"/>
                <a:cs typeface="Onest" pitchFamily="34" charset="-120"/>
              </a:rPr>
              <a:t>Internship at Fantasy Solution, Trichy</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23882" y="657999"/>
            <a:ext cx="3193772" cy="194965"/>
          </a:xfrm>
          <a:prstGeom prst="rect">
            <a:avLst/>
          </a:prstGeom>
          <a:noFill/>
          <a:ln/>
        </p:spPr>
        <p:txBody>
          <a:bodyPr wrap="none" lIns="0" tIns="0" rIns="0" bIns="0" rtlCol="0" anchor="t"/>
          <a:lstStyle/>
          <a:p>
            <a:pPr algn="l" indent="0" marL="0">
              <a:lnSpc>
                <a:spcPct val="100000"/>
              </a:lnSpc>
              <a:buNone/>
            </a:pPr>
            <a:r>
              <a:rPr lang="en-US" sz="1300" spc="128" kern="100" dirty="0">
                <a:solidFill>
                  <a:srgbClr val="FFFFFF"/>
                </a:solidFill>
                <a:latin typeface="Onest SemiBold" pitchFamily="34" charset="0"/>
                <a:ea typeface="Onest SemiBold" pitchFamily="34" charset="-122"/>
                <a:cs typeface="Onest SemiBold" pitchFamily="34" charset="-120"/>
              </a:rPr>
              <a:t>01 · INTERNSHIP OVERVIEW</a:t>
            </a:r>
            <a:endParaRPr lang="en-US" sz="1300" dirty="0"/>
          </a:p>
        </p:txBody>
      </p:sp>
      <p:sp>
        <p:nvSpPr>
          <p:cNvPr id="3" name="Text 1"/>
          <p:cNvSpPr/>
          <p:nvPr/>
        </p:nvSpPr>
        <p:spPr>
          <a:xfrm>
            <a:off x="609585" y="1051525"/>
            <a:ext cx="5714857" cy="880864"/>
          </a:xfrm>
          <a:prstGeom prst="rect">
            <a:avLst/>
          </a:prstGeom>
          <a:noFill/>
          <a:ln/>
        </p:spPr>
        <p:txBody>
          <a:bodyPr wrap="square" lIns="0" tIns="0" rIns="0" bIns="0" rtlCol="0" anchor="t">
            <a:normAutofit/>
          </a:bodyPr>
          <a:lstStyle/>
          <a:p>
            <a:pPr algn="l" indent="0" marL="0">
              <a:lnSpc>
                <a:spcPct val="85000"/>
              </a:lnSpc>
              <a:buNone/>
            </a:pPr>
            <a:r>
              <a:rPr lang="en-US" sz="3400" b="1" spc="-85" kern="100" dirty="0">
                <a:solidFill>
                  <a:srgbClr val="FFFFFF"/>
                </a:solidFill>
                <a:latin typeface="Familjen Grotesk Bold" pitchFamily="34" charset="0"/>
                <a:ea typeface="Familjen Grotesk Bold" pitchFamily="34" charset="-122"/>
                <a:cs typeface="Familjen Grotesk Bold" pitchFamily="34" charset="-120"/>
              </a:rPr>
              <a:t>A 30-day internship turned web concepts into a working portal</a:t>
            </a:r>
            <a:endParaRPr lang="en-US" sz="3400" dirty="0"/>
          </a:p>
        </p:txBody>
      </p:sp>
      <p:sp>
        <p:nvSpPr>
          <p:cNvPr id="4" name="Shape 2"/>
          <p:cNvSpPr/>
          <p:nvPr/>
        </p:nvSpPr>
        <p:spPr>
          <a:xfrm>
            <a:off x="609585" y="2191841"/>
            <a:ext cx="234547" cy="31651"/>
          </a:xfrm>
          <a:prstGeom prst="roundRect">
            <a:avLst>
              <a:gd name="adj" fmla="val 49998"/>
            </a:avLst>
          </a:prstGeom>
          <a:solidFill>
            <a:srgbClr val="7FA6F2"/>
          </a:solidFill>
          <a:ln/>
        </p:spPr>
      </p:sp>
      <p:sp>
        <p:nvSpPr>
          <p:cNvPr id="5" name="Text 3"/>
          <p:cNvSpPr/>
          <p:nvPr/>
        </p:nvSpPr>
        <p:spPr>
          <a:xfrm>
            <a:off x="609585" y="2450604"/>
            <a:ext cx="5714857" cy="1554361"/>
          </a:xfrm>
          <a:prstGeom prst="rect">
            <a:avLst/>
          </a:prstGeom>
          <a:noFill/>
          <a:ln/>
        </p:spPr>
        <p:txBody>
          <a:bodyPr wrap="square" lIns="0" tIns="0" rIns="0" bIns="0" rtlCol="0" anchor="t">
            <a:normAutofit/>
          </a:bodyPr>
          <a:lstStyle/>
          <a:p>
            <a:pPr algn="l" marL="325120" indent="-325120">
              <a:lnSpc>
                <a:spcPct val="115000"/>
              </a:lnSpc>
              <a:buSzPct val="100000"/>
              <a:buChar char="•"/>
            </a:pPr>
            <a:r>
              <a:rPr lang="en-US" sz="1600" b="1" dirty="0">
                <a:solidFill>
                  <a:srgbClr val="E9EEFF"/>
                </a:solidFill>
                <a:latin typeface="Onest Bold" pitchFamily="34" charset="0"/>
                <a:ea typeface="Onest Bold" pitchFamily="34" charset="-122"/>
                <a:cs typeface="Onest Bold" pitchFamily="34" charset="-120"/>
              </a:rPr>
              <a:t>Organization:</a:t>
            </a:r>
            <a:pPr algn="l" marL="325120" indent="-325120">
              <a:lnSpc>
                <a:spcPct val="115000"/>
              </a:lnSpc>
              <a:buSzPct val="100000"/>
              <a:buChar char="•"/>
            </a:pPr>
            <a:r>
              <a:rPr lang="en-US" sz="1600" dirty="0">
                <a:solidFill>
                  <a:srgbClr val="E9EEFF"/>
                </a:solidFill>
                <a:latin typeface="Onest" pitchFamily="34" charset="0"/>
                <a:ea typeface="Onest" pitchFamily="34" charset="-122"/>
                <a:cs typeface="Onest" pitchFamily="34" charset="-120"/>
              </a:rPr>
              <a:t> Fantasy Solution, Trichy</a:t>
            </a:r>
            <a:endParaRPr lang="en-US" sz="1600" dirty="0"/>
          </a:p>
          <a:p>
            <a:pPr algn="l" marL="325120" indent="-325120">
              <a:lnSpc>
                <a:spcPct val="115000"/>
              </a:lnSpc>
              <a:buSzPct val="100000"/>
              <a:buChar char="•"/>
            </a:pPr>
            <a:r>
              <a:rPr lang="en-US" sz="1600" b="1" dirty="0">
                <a:solidFill>
                  <a:srgbClr val="E9EEFF"/>
                </a:solidFill>
                <a:latin typeface="Onest Bold" pitchFamily="34" charset="0"/>
                <a:ea typeface="Onest Bold" pitchFamily="34" charset="-122"/>
                <a:cs typeface="Onest Bold" pitchFamily="34" charset="-120"/>
              </a:rPr>
              <a:t>Focus:</a:t>
            </a:r>
            <a:pPr algn="l" marL="325120" indent="-325120">
              <a:lnSpc>
                <a:spcPct val="115000"/>
              </a:lnSpc>
              <a:buSzPct val="100000"/>
              <a:buChar char="•"/>
            </a:pPr>
            <a:r>
              <a:rPr lang="en-US" sz="1600" dirty="0">
                <a:solidFill>
                  <a:srgbClr val="E9EEFF"/>
                </a:solidFill>
                <a:latin typeface="Onest" pitchFamily="34" charset="0"/>
                <a:ea typeface="Onest" pitchFamily="34" charset="-122"/>
                <a:cs typeface="Onest" pitchFamily="34" charset="-120"/>
              </a:rPr>
              <a:t> web development and modern app architecture</a:t>
            </a:r>
            <a:endParaRPr lang="en-US" sz="1600" dirty="0"/>
          </a:p>
          <a:p>
            <a:pPr algn="l" marL="325120" indent="-325120">
              <a:lnSpc>
                <a:spcPct val="115000"/>
              </a:lnSpc>
              <a:buSzPct val="100000"/>
              <a:buChar char="•"/>
            </a:pPr>
            <a:r>
              <a:rPr lang="en-US" sz="1600" b="1" dirty="0">
                <a:solidFill>
                  <a:srgbClr val="E9EEFF"/>
                </a:solidFill>
                <a:latin typeface="Onest Bold" pitchFamily="34" charset="0"/>
                <a:ea typeface="Onest Bold" pitchFamily="34" charset="-122"/>
                <a:cs typeface="Onest Bold" pitchFamily="34" charset="-120"/>
              </a:rPr>
              <a:t>Project:</a:t>
            </a:r>
            <a:pPr algn="l" marL="325120" indent="-325120">
              <a:lnSpc>
                <a:spcPct val="115000"/>
              </a:lnSpc>
              <a:buSzPct val="100000"/>
              <a:buChar char="•"/>
            </a:pPr>
            <a:r>
              <a:rPr lang="en-US" sz="1600" dirty="0">
                <a:solidFill>
                  <a:srgbClr val="E9EEFF"/>
                </a:solidFill>
                <a:latin typeface="Onest" pitchFamily="34" charset="0"/>
                <a:ea typeface="Onest" pitchFamily="34" charset="-122"/>
                <a:cs typeface="Onest" pitchFamily="34" charset="-120"/>
              </a:rPr>
              <a:t> HeroHub Employee Self-Service Portal</a:t>
            </a:r>
            <a:endParaRPr lang="en-US" sz="1600" dirty="0"/>
          </a:p>
          <a:p>
            <a:pPr algn="l" marL="325120" indent="-325120">
              <a:lnSpc>
                <a:spcPct val="115000"/>
              </a:lnSpc>
              <a:buSzPct val="100000"/>
              <a:buChar char="•"/>
            </a:pPr>
            <a:r>
              <a:rPr lang="en-US" sz="1600" b="1" dirty="0">
                <a:solidFill>
                  <a:srgbClr val="E9EEFF"/>
                </a:solidFill>
                <a:latin typeface="Onest Bold" pitchFamily="34" charset="0"/>
                <a:ea typeface="Onest Bold" pitchFamily="34" charset="-122"/>
                <a:cs typeface="Onest Bold" pitchFamily="34" charset="-120"/>
              </a:rPr>
              <a:t>Core stack:</a:t>
            </a:r>
            <a:pPr algn="l" marL="325120" indent="-325120">
              <a:lnSpc>
                <a:spcPct val="115000"/>
              </a:lnSpc>
              <a:buSzPct val="100000"/>
              <a:buChar char="•"/>
            </a:pPr>
            <a:r>
              <a:rPr lang="en-US" sz="1600" dirty="0">
                <a:solidFill>
                  <a:srgbClr val="E9EEFF"/>
                </a:solidFill>
                <a:latin typeface="Onest" pitchFamily="34" charset="0"/>
                <a:ea typeface="Onest" pitchFamily="34" charset="-122"/>
                <a:cs typeface="Onest" pitchFamily="34" charset="-120"/>
              </a:rPr>
              <a:t> Java 17, Spring Boot 3, Thymeleaf, HTML5, CSS3, JavaScript, Bootstrap 5</a:t>
            </a:r>
            <a:endParaRPr lang="en-US" sz="1600" dirty="0"/>
          </a:p>
        </p:txBody>
      </p:sp>
      <p:pic>
        <p:nvPicPr>
          <p:cNvPr id="6" name="Image 0" descr="preencoded.png">    </p:cNvPr>
          <p:cNvPicPr>
            <a:picLocks noChangeAspect="1"/>
          </p:cNvPicPr>
          <p:nvPr/>
        </p:nvPicPr>
        <p:blipFill>
          <a:blip r:embed="rId1"/>
          <a:stretch>
            <a:fillRect/>
          </a:stretch>
        </p:blipFill>
        <p:spPr>
          <a:xfrm>
            <a:off x="7238819" y="0"/>
            <a:ext cx="4952876" cy="6858000"/>
          </a:xfrm>
          <a:prstGeom prst="rect">
            <a:avLst/>
          </a:prstGeom>
        </p:spPr>
      </p:pic>
      <p:pic>
        <p:nvPicPr>
          <p:cNvPr id="7" name="Image 1" descr="preencoded.png">    </p:cNvPr>
          <p:cNvPicPr>
            <a:picLocks noChangeAspect="1"/>
          </p:cNvPicPr>
          <p:nvPr/>
        </p:nvPicPr>
        <p:blipFill>
          <a:blip r:embed="rId2"/>
          <a:stretch>
            <a:fillRect/>
          </a:stretch>
        </p:blipFill>
        <p:spPr>
          <a:xfrm>
            <a:off x="7238819" y="0"/>
            <a:ext cx="81268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23882" y="657999"/>
            <a:ext cx="1954957" cy="194965"/>
          </a:xfrm>
          <a:prstGeom prst="rect">
            <a:avLst/>
          </a:prstGeom>
          <a:noFill/>
          <a:ln/>
        </p:spPr>
        <p:txBody>
          <a:bodyPr wrap="none" lIns="0" tIns="0" rIns="0" bIns="0" rtlCol="0" anchor="t"/>
          <a:lstStyle/>
          <a:p>
            <a:pPr algn="l" indent="0" marL="0">
              <a:lnSpc>
                <a:spcPct val="100000"/>
              </a:lnSpc>
              <a:buNone/>
            </a:pPr>
            <a:r>
              <a:rPr lang="en-US" sz="1300" spc="128" kern="100" dirty="0">
                <a:solidFill>
                  <a:srgbClr val="FFFFFF"/>
                </a:solidFill>
                <a:latin typeface="Onest SemiBold" pitchFamily="34" charset="0"/>
                <a:ea typeface="Onest SemiBold" pitchFamily="34" charset="-122"/>
                <a:cs typeface="Onest SemiBold" pitchFamily="34" charset="-120"/>
              </a:rPr>
              <a:t>02 · THE NEED</a:t>
            </a:r>
            <a:endParaRPr lang="en-US" sz="1300" dirty="0"/>
          </a:p>
        </p:txBody>
      </p:sp>
      <p:sp>
        <p:nvSpPr>
          <p:cNvPr id="3" name="Text 1"/>
          <p:cNvSpPr/>
          <p:nvPr/>
        </p:nvSpPr>
        <p:spPr>
          <a:xfrm>
            <a:off x="609585" y="1130900"/>
            <a:ext cx="5912992" cy="1321296"/>
          </a:xfrm>
          <a:prstGeom prst="rect">
            <a:avLst/>
          </a:prstGeom>
          <a:noFill/>
          <a:ln/>
        </p:spPr>
        <p:txBody>
          <a:bodyPr wrap="square" lIns="0" tIns="0" rIns="0" bIns="0" rtlCol="0" anchor="t">
            <a:normAutofit/>
          </a:bodyPr>
          <a:lstStyle/>
          <a:p>
            <a:pPr algn="l" indent="0" marL="0">
              <a:lnSpc>
                <a:spcPct val="85000"/>
              </a:lnSpc>
              <a:buNone/>
            </a:pPr>
            <a:r>
              <a:rPr lang="en-US" sz="3400" b="1" spc="-85" kern="100" dirty="0">
                <a:solidFill>
                  <a:srgbClr val="FFFFFF"/>
                </a:solidFill>
                <a:latin typeface="Familjen Grotesk Bold" pitchFamily="34" charset="0"/>
                <a:ea typeface="Familjen Grotesk Bold" pitchFamily="34" charset="-122"/>
                <a:cs typeface="Familjen Grotesk Bold" pitchFamily="34" charset="-120"/>
              </a:rPr>
              <a:t>HeroHub centralizes employee information and workforce visibility</a:t>
            </a:r>
            <a:endParaRPr lang="en-US" sz="3400" dirty="0"/>
          </a:p>
        </p:txBody>
      </p:sp>
      <p:sp>
        <p:nvSpPr>
          <p:cNvPr id="4" name="Text 2"/>
          <p:cNvSpPr/>
          <p:nvPr/>
        </p:nvSpPr>
        <p:spPr>
          <a:xfrm>
            <a:off x="609585" y="2586236"/>
            <a:ext cx="5912992" cy="685800"/>
          </a:xfrm>
          <a:prstGeom prst="rect">
            <a:avLst/>
          </a:prstGeom>
          <a:noFill/>
          <a:ln/>
        </p:spPr>
        <p:txBody>
          <a:bodyPr wrap="square" lIns="0" tIns="0" rIns="0" bIns="0" rtlCol="0" anchor="t">
            <a:normAutofit/>
          </a:bodyPr>
          <a:lstStyle/>
          <a:p>
            <a:pPr algn="l" indent="0" marL="0">
              <a:lnSpc>
                <a:spcPct val="112000"/>
              </a:lnSpc>
              <a:buNone/>
            </a:pPr>
            <a:r>
              <a:rPr lang="en-US" sz="2000" dirty="0">
                <a:solidFill>
                  <a:srgbClr val="B4C2EC"/>
                </a:solidFill>
                <a:latin typeface="Onest" pitchFamily="34" charset="0"/>
                <a:ea typeface="Onest" pitchFamily="34" charset="-122"/>
                <a:cs typeface="Onest" pitchFamily="34" charset="-120"/>
              </a:rPr>
              <a:t>One portal for records, search, profiles, forms, and metrics.</a:t>
            </a:r>
            <a:endParaRPr lang="en-US" sz="2000" dirty="0"/>
          </a:p>
        </p:txBody>
      </p:sp>
      <p:sp>
        <p:nvSpPr>
          <p:cNvPr id="5" name="Shape 3"/>
          <p:cNvSpPr/>
          <p:nvPr/>
        </p:nvSpPr>
        <p:spPr>
          <a:xfrm>
            <a:off x="609585" y="3449836"/>
            <a:ext cx="1869334" cy="3479602"/>
          </a:xfrm>
          <a:prstGeom prst="roundRect">
            <a:avLst>
              <a:gd name="adj" fmla="val 6522"/>
            </a:avLst>
          </a:prstGeom>
          <a:solidFill>
            <a:srgbClr val="152060"/>
          </a:solidFill>
          <a:ln/>
        </p:spPr>
      </p:sp>
      <p:sp>
        <p:nvSpPr>
          <p:cNvPr id="6" name="Text 4"/>
          <p:cNvSpPr/>
          <p:nvPr/>
        </p:nvSpPr>
        <p:spPr>
          <a:xfrm>
            <a:off x="838179" y="3678436"/>
            <a:ext cx="1412145" cy="308570"/>
          </a:xfrm>
          <a:prstGeom prst="rect">
            <a:avLst/>
          </a:prstGeom>
          <a:noFill/>
          <a:ln/>
        </p:spPr>
        <p:txBody>
          <a:bodyPr wrap="none" lIns="0" tIns="0" rIns="0" bIns="0" rtlCol="0" anchor="t"/>
          <a:lstStyle/>
          <a:p>
            <a:pPr algn="l" indent="0" marL="0">
              <a:lnSpc>
                <a:spcPct val="113000"/>
              </a:lnSpc>
              <a:buNone/>
            </a:pPr>
            <a:r>
              <a:rPr lang="en-US" sz="1800" dirty="0">
                <a:solidFill>
                  <a:srgbClr val="E9EEFF"/>
                </a:solidFill>
                <a:latin typeface="Onest" pitchFamily="34" charset="0"/>
                <a:ea typeface="Onest" pitchFamily="34" charset="-122"/>
                <a:cs typeface="Onest" pitchFamily="34" charset="-120"/>
              </a:rPr>
              <a:t>Challenge</a:t>
            </a:r>
            <a:endParaRPr lang="en-US" sz="1800" dirty="0"/>
          </a:p>
        </p:txBody>
      </p:sp>
      <p:sp>
        <p:nvSpPr>
          <p:cNvPr id="7" name="Text 5"/>
          <p:cNvSpPr/>
          <p:nvPr/>
        </p:nvSpPr>
        <p:spPr>
          <a:xfrm>
            <a:off x="838179" y="4177506"/>
            <a:ext cx="1412145" cy="2523331"/>
          </a:xfrm>
          <a:prstGeom prst="rect">
            <a:avLst/>
          </a:prstGeom>
          <a:noFill/>
          <a:ln/>
        </p:spPr>
        <p:txBody>
          <a:bodyPr wrap="square" lIns="0" tIns="0" rIns="0" bIns="0" rtlCol="0" anchor="t">
            <a:normAutofit/>
          </a:bodyPr>
          <a:lstStyle/>
          <a:p>
            <a:pPr algn="l" indent="0" marL="0">
              <a:lnSpc>
                <a:spcPct val="115000"/>
              </a:lnSpc>
              <a:buNone/>
            </a:pPr>
            <a:r>
              <a:rPr lang="en-US" sz="1800" dirty="0">
                <a:solidFill>
                  <a:srgbClr val="E9EEFF"/>
                </a:solidFill>
                <a:latin typeface="Onest" pitchFamily="34" charset="0"/>
                <a:ea typeface="Onest" pitchFamily="34" charset="-122"/>
                <a:cs typeface="Onest" pitchFamily="34" charset="-120"/>
              </a:rPr>
              <a:t>Manual records mean inconsistent formats, duplicates, and slow search.</a:t>
            </a:r>
            <a:endParaRPr lang="en-US" sz="1800" dirty="0"/>
          </a:p>
        </p:txBody>
      </p:sp>
      <p:sp>
        <p:nvSpPr>
          <p:cNvPr id="8" name="Shape 6"/>
          <p:cNvSpPr/>
          <p:nvPr/>
        </p:nvSpPr>
        <p:spPr>
          <a:xfrm>
            <a:off x="2631315" y="3449836"/>
            <a:ext cx="1869433" cy="3479602"/>
          </a:xfrm>
          <a:prstGeom prst="roundRect">
            <a:avLst>
              <a:gd name="adj" fmla="val 6522"/>
            </a:avLst>
          </a:prstGeom>
          <a:solidFill>
            <a:srgbClr val="152060"/>
          </a:solidFill>
          <a:ln/>
        </p:spPr>
      </p:sp>
      <p:sp>
        <p:nvSpPr>
          <p:cNvPr id="9" name="Text 7"/>
          <p:cNvSpPr/>
          <p:nvPr/>
        </p:nvSpPr>
        <p:spPr>
          <a:xfrm>
            <a:off x="2859909" y="3678436"/>
            <a:ext cx="1412244" cy="308570"/>
          </a:xfrm>
          <a:prstGeom prst="rect">
            <a:avLst/>
          </a:prstGeom>
          <a:noFill/>
          <a:ln/>
        </p:spPr>
        <p:txBody>
          <a:bodyPr wrap="none" lIns="0" tIns="0" rIns="0" bIns="0" rtlCol="0" anchor="t"/>
          <a:lstStyle/>
          <a:p>
            <a:pPr algn="l" indent="0" marL="0">
              <a:lnSpc>
                <a:spcPct val="113000"/>
              </a:lnSpc>
              <a:buNone/>
            </a:pPr>
            <a:r>
              <a:rPr lang="en-US" sz="1800" dirty="0">
                <a:solidFill>
                  <a:srgbClr val="E9EEFF"/>
                </a:solidFill>
                <a:latin typeface="Onest" pitchFamily="34" charset="0"/>
                <a:ea typeface="Onest" pitchFamily="34" charset="-122"/>
                <a:cs typeface="Onest" pitchFamily="34" charset="-120"/>
              </a:rPr>
              <a:t>Objective</a:t>
            </a:r>
            <a:endParaRPr lang="en-US" sz="1800" dirty="0"/>
          </a:p>
        </p:txBody>
      </p:sp>
      <p:sp>
        <p:nvSpPr>
          <p:cNvPr id="10" name="Text 8"/>
          <p:cNvSpPr/>
          <p:nvPr/>
        </p:nvSpPr>
        <p:spPr>
          <a:xfrm>
            <a:off x="2859909" y="4177506"/>
            <a:ext cx="1412244" cy="1261666"/>
          </a:xfrm>
          <a:prstGeom prst="rect">
            <a:avLst/>
          </a:prstGeom>
          <a:noFill/>
          <a:ln/>
        </p:spPr>
        <p:txBody>
          <a:bodyPr wrap="square" lIns="0" tIns="0" rIns="0" bIns="0" rtlCol="0" anchor="t">
            <a:normAutofit/>
          </a:bodyPr>
          <a:lstStyle/>
          <a:p>
            <a:pPr algn="l" indent="0" marL="0">
              <a:lnSpc>
                <a:spcPct val="115000"/>
              </a:lnSpc>
              <a:buNone/>
            </a:pPr>
            <a:r>
              <a:rPr lang="en-US" sz="1800" dirty="0">
                <a:solidFill>
                  <a:srgbClr val="E9EEFF"/>
                </a:solidFill>
                <a:latin typeface="Onest" pitchFamily="34" charset="0"/>
                <a:ea typeface="Onest" pitchFamily="34" charset="-122"/>
                <a:cs typeface="Onest" pitchFamily="34" charset="-120"/>
              </a:rPr>
              <a:t>Organize employee records in one portal.</a:t>
            </a:r>
            <a:endParaRPr lang="en-US" sz="1800" dirty="0"/>
          </a:p>
        </p:txBody>
      </p:sp>
      <p:sp>
        <p:nvSpPr>
          <p:cNvPr id="11" name="Shape 9"/>
          <p:cNvSpPr/>
          <p:nvPr/>
        </p:nvSpPr>
        <p:spPr>
          <a:xfrm>
            <a:off x="4653144" y="3449836"/>
            <a:ext cx="1869334" cy="3479602"/>
          </a:xfrm>
          <a:prstGeom prst="roundRect">
            <a:avLst>
              <a:gd name="adj" fmla="val 6522"/>
            </a:avLst>
          </a:prstGeom>
          <a:solidFill>
            <a:srgbClr val="152060"/>
          </a:solidFill>
          <a:ln/>
        </p:spPr>
      </p:sp>
      <p:sp>
        <p:nvSpPr>
          <p:cNvPr id="12" name="Text 10"/>
          <p:cNvSpPr/>
          <p:nvPr/>
        </p:nvSpPr>
        <p:spPr>
          <a:xfrm>
            <a:off x="4881738" y="3678436"/>
            <a:ext cx="1412145" cy="308570"/>
          </a:xfrm>
          <a:prstGeom prst="rect">
            <a:avLst/>
          </a:prstGeom>
          <a:noFill/>
          <a:ln/>
        </p:spPr>
        <p:txBody>
          <a:bodyPr wrap="none" lIns="0" tIns="0" rIns="0" bIns="0" rtlCol="0" anchor="t"/>
          <a:lstStyle/>
          <a:p>
            <a:pPr algn="l" indent="0" marL="0">
              <a:lnSpc>
                <a:spcPct val="113000"/>
              </a:lnSpc>
              <a:buNone/>
            </a:pPr>
            <a:r>
              <a:rPr lang="en-US" sz="1800" dirty="0">
                <a:solidFill>
                  <a:srgbClr val="E9EEFF"/>
                </a:solidFill>
                <a:latin typeface="Onest" pitchFamily="34" charset="0"/>
                <a:ea typeface="Onest" pitchFamily="34" charset="-122"/>
                <a:cs typeface="Onest" pitchFamily="34" charset="-120"/>
              </a:rPr>
              <a:t>Outcome</a:t>
            </a:r>
            <a:endParaRPr lang="en-US" sz="1800" dirty="0"/>
          </a:p>
        </p:txBody>
      </p:sp>
      <p:sp>
        <p:nvSpPr>
          <p:cNvPr id="13" name="Text 11"/>
          <p:cNvSpPr/>
          <p:nvPr/>
        </p:nvSpPr>
        <p:spPr>
          <a:xfrm>
            <a:off x="4881738" y="4177506"/>
            <a:ext cx="1412145" cy="1892498"/>
          </a:xfrm>
          <a:prstGeom prst="rect">
            <a:avLst/>
          </a:prstGeom>
          <a:noFill/>
          <a:ln/>
        </p:spPr>
        <p:txBody>
          <a:bodyPr wrap="square" lIns="0" tIns="0" rIns="0" bIns="0" rtlCol="0" anchor="t">
            <a:normAutofit/>
          </a:bodyPr>
          <a:lstStyle/>
          <a:p>
            <a:pPr algn="l" indent="0" marL="0">
              <a:lnSpc>
                <a:spcPct val="115000"/>
              </a:lnSpc>
              <a:buNone/>
            </a:pPr>
            <a:r>
              <a:rPr lang="en-US" sz="1800" dirty="0">
                <a:solidFill>
                  <a:srgbClr val="E9EEFF"/>
                </a:solidFill>
                <a:latin typeface="Onest" pitchFamily="34" charset="0"/>
                <a:ea typeface="Onest" pitchFamily="34" charset="-122"/>
                <a:cs typeface="Onest" pitchFamily="34" charset="-120"/>
              </a:rPr>
              <a:t>Directory search, profiles, forms, and dashboard metrics.</a:t>
            </a:r>
            <a:endParaRPr lang="en-US" sz="1800" dirty="0"/>
          </a:p>
        </p:txBody>
      </p:sp>
      <p:pic>
        <p:nvPicPr>
          <p:cNvPr id="14" name="Image 0" descr="preencoded.png">    </p:cNvPr>
          <p:cNvPicPr>
            <a:picLocks noChangeAspect="1"/>
          </p:cNvPicPr>
          <p:nvPr/>
        </p:nvPicPr>
        <p:blipFill>
          <a:blip r:embed="rId1"/>
          <a:stretch>
            <a:fillRect/>
          </a:stretch>
        </p:blipFill>
        <p:spPr>
          <a:xfrm>
            <a:off x="7436855" y="0"/>
            <a:ext cx="4754840" cy="6858000"/>
          </a:xfrm>
          <a:prstGeom prst="rect">
            <a:avLst/>
          </a:prstGeom>
        </p:spPr>
      </p:pic>
      <p:pic>
        <p:nvPicPr>
          <p:cNvPr id="15" name="Image 1" descr="preencoded.png">    </p:cNvPr>
          <p:cNvPicPr>
            <a:picLocks noChangeAspect="1"/>
          </p:cNvPicPr>
          <p:nvPr/>
        </p:nvPicPr>
        <p:blipFill>
          <a:blip r:embed="rId2"/>
          <a:stretch>
            <a:fillRect/>
          </a:stretch>
        </p:blipFill>
        <p:spPr>
          <a:xfrm>
            <a:off x="7436855" y="0"/>
            <a:ext cx="81268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23882" y="657999"/>
            <a:ext cx="2494099" cy="194965"/>
          </a:xfrm>
          <a:prstGeom prst="rect">
            <a:avLst/>
          </a:prstGeom>
          <a:noFill/>
          <a:ln/>
        </p:spPr>
        <p:txBody>
          <a:bodyPr wrap="none" lIns="0" tIns="0" rIns="0" bIns="0" rtlCol="0" anchor="t"/>
          <a:lstStyle/>
          <a:p>
            <a:pPr algn="l" indent="0" marL="0">
              <a:lnSpc>
                <a:spcPct val="100000"/>
              </a:lnSpc>
              <a:buNone/>
            </a:pPr>
            <a:r>
              <a:rPr lang="en-US" sz="1300" spc="128" kern="100" dirty="0">
                <a:solidFill>
                  <a:srgbClr val="FFFFFF"/>
                </a:solidFill>
                <a:latin typeface="Onest SemiBold" pitchFamily="34" charset="0"/>
                <a:ea typeface="Onest SemiBold" pitchFamily="34" charset="-122"/>
                <a:cs typeface="Onest SemiBold" pitchFamily="34" charset="-120"/>
              </a:rPr>
              <a:t>03 · DELIVERY PATH</a:t>
            </a:r>
            <a:endParaRPr lang="en-US" sz="1300" dirty="0"/>
          </a:p>
        </p:txBody>
      </p:sp>
      <p:sp>
        <p:nvSpPr>
          <p:cNvPr id="3" name="Text 1"/>
          <p:cNvSpPr/>
          <p:nvPr/>
        </p:nvSpPr>
        <p:spPr>
          <a:xfrm>
            <a:off x="609585" y="1130900"/>
            <a:ext cx="10972526" cy="880864"/>
          </a:xfrm>
          <a:prstGeom prst="rect">
            <a:avLst/>
          </a:prstGeom>
          <a:noFill/>
          <a:ln/>
        </p:spPr>
        <p:txBody>
          <a:bodyPr wrap="square" lIns="0" tIns="0" rIns="0" bIns="0" rtlCol="0" anchor="t">
            <a:normAutofit/>
          </a:bodyPr>
          <a:lstStyle/>
          <a:p>
            <a:pPr algn="l" indent="0" marL="0">
              <a:lnSpc>
                <a:spcPct val="85000"/>
              </a:lnSpc>
              <a:buNone/>
            </a:pPr>
            <a:r>
              <a:rPr lang="en-US" sz="3400" b="1" spc="-85" kern="100" dirty="0">
                <a:solidFill>
                  <a:srgbClr val="FFFFFF"/>
                </a:solidFill>
                <a:latin typeface="Familjen Grotesk Bold" pitchFamily="34" charset="0"/>
                <a:ea typeface="Familjen Grotesk Bold" pitchFamily="34" charset="-122"/>
                <a:cs typeface="Familjen Grotesk Bold" pitchFamily="34" charset="-120"/>
              </a:rPr>
              <a:t>The internship moved from fundamentals to full application delivery</a:t>
            </a:r>
            <a:endParaRPr lang="en-US" sz="3400" dirty="0"/>
          </a:p>
        </p:txBody>
      </p:sp>
      <p:sp>
        <p:nvSpPr>
          <p:cNvPr id="4" name="Shape 2"/>
          <p:cNvSpPr/>
          <p:nvPr/>
        </p:nvSpPr>
        <p:spPr>
          <a:xfrm>
            <a:off x="609585" y="4108252"/>
            <a:ext cx="10972526" cy="28575"/>
          </a:xfrm>
          <a:prstGeom prst="roundRect">
            <a:avLst>
              <a:gd name="adj" fmla="val 39999"/>
            </a:avLst>
          </a:prstGeom>
          <a:solidFill>
            <a:srgbClr val="454F87"/>
          </a:solidFill>
          <a:ln/>
        </p:spPr>
      </p:sp>
      <p:sp>
        <p:nvSpPr>
          <p:cNvPr id="5" name="Shape 3"/>
          <p:cNvSpPr/>
          <p:nvPr/>
        </p:nvSpPr>
        <p:spPr>
          <a:xfrm>
            <a:off x="2713565" y="3498652"/>
            <a:ext cx="28574" cy="609600"/>
          </a:xfrm>
          <a:prstGeom prst="roundRect">
            <a:avLst>
              <a:gd name="adj" fmla="val 40000"/>
            </a:avLst>
          </a:prstGeom>
          <a:solidFill>
            <a:srgbClr val="454F87"/>
          </a:solidFill>
          <a:ln/>
        </p:spPr>
      </p:sp>
      <p:sp>
        <p:nvSpPr>
          <p:cNvPr id="6" name="Shape 4"/>
          <p:cNvSpPr/>
          <p:nvPr/>
        </p:nvSpPr>
        <p:spPr>
          <a:xfrm>
            <a:off x="2499258" y="3879652"/>
            <a:ext cx="457189" cy="457200"/>
          </a:xfrm>
          <a:prstGeom prst="roundRect">
            <a:avLst>
              <a:gd name="adj" fmla="val 2500"/>
            </a:avLst>
          </a:prstGeom>
          <a:solidFill>
            <a:srgbClr val="0D174F"/>
          </a:solidFill>
          <a:ln w="12700">
            <a:solidFill>
              <a:srgbClr val="454F87"/>
            </a:solidFill>
            <a:prstDash val="solid"/>
          </a:ln>
        </p:spPr>
      </p:sp>
      <p:sp>
        <p:nvSpPr>
          <p:cNvPr id="7" name="Text 5"/>
          <p:cNvSpPr/>
          <p:nvPr/>
        </p:nvSpPr>
        <p:spPr>
          <a:xfrm>
            <a:off x="2575456" y="3952825"/>
            <a:ext cx="304792" cy="310852"/>
          </a:xfrm>
          <a:prstGeom prst="rect">
            <a:avLst/>
          </a:prstGeom>
          <a:noFill/>
          <a:ln/>
        </p:spPr>
        <p:txBody>
          <a:bodyPr wrap="none" lIns="0" tIns="0" rIns="0" bIns="0" rtlCol="0" anchor="ctr"/>
          <a:lstStyle/>
          <a:p>
            <a:pPr algn="ctr" indent="0" marL="0">
              <a:lnSpc>
                <a:spcPct val="100000"/>
              </a:lnSpc>
              <a:buNone/>
            </a:pPr>
            <a:r>
              <a:rPr lang="en-US" sz="2400" b="1" spc="-60" kern="100" dirty="0">
                <a:solidFill>
                  <a:srgbClr val="E9EEFF"/>
                </a:solidFill>
                <a:latin typeface="Familjen Grotesk Bold" pitchFamily="34" charset="0"/>
                <a:ea typeface="Familjen Grotesk Bold" pitchFamily="34" charset="-122"/>
                <a:cs typeface="Familjen Grotesk Bold" pitchFamily="34" charset="-120"/>
              </a:rPr>
              <a:t>1</a:t>
            </a:r>
            <a:endParaRPr lang="en-US" sz="2400" dirty="0"/>
          </a:p>
        </p:txBody>
      </p:sp>
      <p:sp>
        <p:nvSpPr>
          <p:cNvPr id="8" name="Text 6"/>
          <p:cNvSpPr/>
          <p:nvPr/>
        </p:nvSpPr>
        <p:spPr>
          <a:xfrm>
            <a:off x="812780" y="2234208"/>
            <a:ext cx="3830145" cy="308570"/>
          </a:xfrm>
          <a:prstGeom prst="rect">
            <a:avLst/>
          </a:prstGeom>
          <a:noFill/>
          <a:ln/>
        </p:spPr>
        <p:txBody>
          <a:bodyPr wrap="none" lIns="0" tIns="0" rIns="0" bIns="0" rtlCol="0" anchor="t"/>
          <a:lstStyle/>
          <a:p>
            <a:pPr algn="ctr" indent="0" marL="0">
              <a:lnSpc>
                <a:spcPct val="113000"/>
              </a:lnSpc>
              <a:buNone/>
            </a:pPr>
            <a:r>
              <a:rPr lang="en-US" sz="1800" b="1" spc="-45" kern="100" dirty="0">
                <a:solidFill>
                  <a:srgbClr val="E9EEFF"/>
                </a:solidFill>
                <a:latin typeface="Familjen Grotesk Bold" pitchFamily="34" charset="0"/>
                <a:ea typeface="Familjen Grotesk Bold" pitchFamily="34" charset="-122"/>
                <a:cs typeface="Familjen Grotesk Bold" pitchFamily="34" charset="-120"/>
              </a:rPr>
              <a:t>Days 1–10</a:t>
            </a:r>
            <a:endParaRPr lang="en-US" sz="1800" dirty="0"/>
          </a:p>
        </p:txBody>
      </p:sp>
      <p:sp>
        <p:nvSpPr>
          <p:cNvPr id="9" name="Text 7"/>
          <p:cNvSpPr/>
          <p:nvPr/>
        </p:nvSpPr>
        <p:spPr>
          <a:xfrm>
            <a:off x="812780" y="2664619"/>
            <a:ext cx="3830145" cy="630833"/>
          </a:xfrm>
          <a:prstGeom prst="rect">
            <a:avLst/>
          </a:prstGeom>
          <a:noFill/>
          <a:ln/>
        </p:spPr>
        <p:txBody>
          <a:bodyPr wrap="square" lIns="0" tIns="0" rIns="0" bIns="0" rtlCol="0" anchor="t">
            <a:normAutofit/>
          </a:bodyPr>
          <a:lstStyle/>
          <a:p>
            <a:pPr algn="ctr" indent="0" marL="0">
              <a:lnSpc>
                <a:spcPct val="115000"/>
              </a:lnSpc>
              <a:buNone/>
            </a:pPr>
            <a:r>
              <a:rPr lang="en-US" sz="1800" dirty="0">
                <a:solidFill>
                  <a:srgbClr val="E9EEFF"/>
                </a:solidFill>
                <a:latin typeface="Onest" pitchFamily="34" charset="0"/>
                <a:ea typeface="Onest" pitchFamily="34" charset="-122"/>
                <a:cs typeface="Onest" pitchFamily="34" charset="-120"/>
              </a:rPr>
              <a:t>Java, OOP, collections, exceptions, setup</a:t>
            </a:r>
            <a:endParaRPr lang="en-US" sz="1800" dirty="0"/>
          </a:p>
        </p:txBody>
      </p:sp>
      <p:sp>
        <p:nvSpPr>
          <p:cNvPr id="10" name="Shape 8"/>
          <p:cNvSpPr/>
          <p:nvPr/>
        </p:nvSpPr>
        <p:spPr>
          <a:xfrm>
            <a:off x="4958829" y="4108252"/>
            <a:ext cx="28574" cy="609600"/>
          </a:xfrm>
          <a:prstGeom prst="roundRect">
            <a:avLst>
              <a:gd name="adj" fmla="val 40000"/>
            </a:avLst>
          </a:prstGeom>
          <a:solidFill>
            <a:srgbClr val="454F87"/>
          </a:solidFill>
          <a:ln/>
        </p:spPr>
      </p:sp>
      <p:sp>
        <p:nvSpPr>
          <p:cNvPr id="11" name="Shape 9"/>
          <p:cNvSpPr/>
          <p:nvPr/>
        </p:nvSpPr>
        <p:spPr>
          <a:xfrm>
            <a:off x="4744522" y="3879652"/>
            <a:ext cx="457189" cy="457200"/>
          </a:xfrm>
          <a:prstGeom prst="roundRect">
            <a:avLst>
              <a:gd name="adj" fmla="val 2500"/>
            </a:avLst>
          </a:prstGeom>
          <a:solidFill>
            <a:srgbClr val="0D174F"/>
          </a:solidFill>
          <a:ln w="12700">
            <a:solidFill>
              <a:srgbClr val="454F87"/>
            </a:solidFill>
            <a:prstDash val="solid"/>
          </a:ln>
        </p:spPr>
      </p:sp>
      <p:sp>
        <p:nvSpPr>
          <p:cNvPr id="12" name="Text 10"/>
          <p:cNvSpPr/>
          <p:nvPr/>
        </p:nvSpPr>
        <p:spPr>
          <a:xfrm>
            <a:off x="4820720" y="3952825"/>
            <a:ext cx="304792" cy="310852"/>
          </a:xfrm>
          <a:prstGeom prst="rect">
            <a:avLst/>
          </a:prstGeom>
          <a:noFill/>
          <a:ln/>
        </p:spPr>
        <p:txBody>
          <a:bodyPr wrap="none" lIns="0" tIns="0" rIns="0" bIns="0" rtlCol="0" anchor="ctr"/>
          <a:lstStyle/>
          <a:p>
            <a:pPr algn="ctr" indent="0" marL="0">
              <a:lnSpc>
                <a:spcPct val="100000"/>
              </a:lnSpc>
              <a:buNone/>
            </a:pPr>
            <a:r>
              <a:rPr lang="en-US" sz="2400" b="1" spc="-60" kern="100" dirty="0">
                <a:solidFill>
                  <a:srgbClr val="E9EEFF"/>
                </a:solidFill>
                <a:latin typeface="Familjen Grotesk Bold" pitchFamily="34" charset="0"/>
                <a:ea typeface="Familjen Grotesk Bold" pitchFamily="34" charset="-122"/>
                <a:cs typeface="Familjen Grotesk Bold" pitchFamily="34" charset="-120"/>
              </a:rPr>
              <a:t>2</a:t>
            </a:r>
            <a:endParaRPr lang="en-US" sz="2400" dirty="0"/>
          </a:p>
        </p:txBody>
      </p:sp>
      <p:sp>
        <p:nvSpPr>
          <p:cNvPr id="13" name="Text 11"/>
          <p:cNvSpPr/>
          <p:nvPr/>
        </p:nvSpPr>
        <p:spPr>
          <a:xfrm>
            <a:off x="3057994" y="4921052"/>
            <a:ext cx="3830244" cy="308570"/>
          </a:xfrm>
          <a:prstGeom prst="rect">
            <a:avLst/>
          </a:prstGeom>
          <a:noFill/>
          <a:ln/>
        </p:spPr>
        <p:txBody>
          <a:bodyPr wrap="none" lIns="0" tIns="0" rIns="0" bIns="0" rtlCol="0" anchor="t"/>
          <a:lstStyle/>
          <a:p>
            <a:pPr algn="ctr" indent="0" marL="0">
              <a:lnSpc>
                <a:spcPct val="113000"/>
              </a:lnSpc>
              <a:buNone/>
            </a:pPr>
            <a:r>
              <a:rPr lang="en-US" sz="1800" b="1" spc="-45" kern="100" dirty="0">
                <a:solidFill>
                  <a:srgbClr val="E9EEFF"/>
                </a:solidFill>
                <a:latin typeface="Familjen Grotesk Bold" pitchFamily="34" charset="0"/>
                <a:ea typeface="Familjen Grotesk Bold" pitchFamily="34" charset="-122"/>
                <a:cs typeface="Familjen Grotesk Bold" pitchFamily="34" charset="-120"/>
              </a:rPr>
              <a:t>Days 11–15</a:t>
            </a:r>
            <a:endParaRPr lang="en-US" sz="1800" dirty="0"/>
          </a:p>
        </p:txBody>
      </p:sp>
      <p:sp>
        <p:nvSpPr>
          <p:cNvPr id="14" name="Text 12"/>
          <p:cNvSpPr/>
          <p:nvPr/>
        </p:nvSpPr>
        <p:spPr>
          <a:xfrm>
            <a:off x="3058044" y="5351462"/>
            <a:ext cx="3830244" cy="630833"/>
          </a:xfrm>
          <a:prstGeom prst="rect">
            <a:avLst/>
          </a:prstGeom>
          <a:noFill/>
          <a:ln/>
        </p:spPr>
        <p:txBody>
          <a:bodyPr wrap="square" lIns="0" tIns="0" rIns="0" bIns="0" rtlCol="0" anchor="t">
            <a:normAutofit/>
          </a:bodyPr>
          <a:lstStyle/>
          <a:p>
            <a:pPr algn="ctr" indent="0" marL="0">
              <a:lnSpc>
                <a:spcPct val="115000"/>
              </a:lnSpc>
              <a:buNone/>
            </a:pPr>
            <a:r>
              <a:rPr lang="en-US" sz="1800" dirty="0">
                <a:solidFill>
                  <a:srgbClr val="E9EEFF"/>
                </a:solidFill>
                <a:latin typeface="Onest" pitchFamily="34" charset="0"/>
                <a:ea typeface="Onest" pitchFamily="34" charset="-122"/>
                <a:cs typeface="Onest" pitchFamily="34" charset="-120"/>
              </a:rPr>
              <a:t>HTML, CSS, responsive design, Bootstrap, Spring Boot</a:t>
            </a:r>
            <a:endParaRPr lang="en-US" sz="1800" dirty="0"/>
          </a:p>
        </p:txBody>
      </p:sp>
      <p:sp>
        <p:nvSpPr>
          <p:cNvPr id="15" name="Shape 13"/>
          <p:cNvSpPr/>
          <p:nvPr/>
        </p:nvSpPr>
        <p:spPr>
          <a:xfrm>
            <a:off x="7204093" y="3498652"/>
            <a:ext cx="28574" cy="609600"/>
          </a:xfrm>
          <a:prstGeom prst="roundRect">
            <a:avLst>
              <a:gd name="adj" fmla="val 40000"/>
            </a:avLst>
          </a:prstGeom>
          <a:solidFill>
            <a:srgbClr val="454F87"/>
          </a:solidFill>
          <a:ln/>
        </p:spPr>
      </p:sp>
      <p:sp>
        <p:nvSpPr>
          <p:cNvPr id="16" name="Shape 14"/>
          <p:cNvSpPr/>
          <p:nvPr/>
        </p:nvSpPr>
        <p:spPr>
          <a:xfrm>
            <a:off x="6989786" y="3879652"/>
            <a:ext cx="457189" cy="457200"/>
          </a:xfrm>
          <a:prstGeom prst="roundRect">
            <a:avLst>
              <a:gd name="adj" fmla="val 2500"/>
            </a:avLst>
          </a:prstGeom>
          <a:solidFill>
            <a:srgbClr val="0D174F"/>
          </a:solidFill>
          <a:ln w="12700">
            <a:solidFill>
              <a:srgbClr val="454F87"/>
            </a:solidFill>
            <a:prstDash val="solid"/>
          </a:ln>
        </p:spPr>
      </p:sp>
      <p:sp>
        <p:nvSpPr>
          <p:cNvPr id="17" name="Text 15"/>
          <p:cNvSpPr/>
          <p:nvPr/>
        </p:nvSpPr>
        <p:spPr>
          <a:xfrm>
            <a:off x="7065984" y="3952825"/>
            <a:ext cx="304792" cy="310852"/>
          </a:xfrm>
          <a:prstGeom prst="rect">
            <a:avLst/>
          </a:prstGeom>
          <a:noFill/>
          <a:ln/>
        </p:spPr>
        <p:txBody>
          <a:bodyPr wrap="none" lIns="0" tIns="0" rIns="0" bIns="0" rtlCol="0" anchor="ctr"/>
          <a:lstStyle/>
          <a:p>
            <a:pPr algn="ctr" indent="0" marL="0">
              <a:lnSpc>
                <a:spcPct val="100000"/>
              </a:lnSpc>
              <a:buNone/>
            </a:pPr>
            <a:r>
              <a:rPr lang="en-US" sz="2400" b="1" spc="-60" kern="100" dirty="0">
                <a:solidFill>
                  <a:srgbClr val="E9EEFF"/>
                </a:solidFill>
                <a:latin typeface="Familjen Grotesk Bold" pitchFamily="34" charset="0"/>
                <a:ea typeface="Familjen Grotesk Bold" pitchFamily="34" charset="-122"/>
                <a:cs typeface="Familjen Grotesk Bold" pitchFamily="34" charset="-120"/>
              </a:rPr>
              <a:t>3</a:t>
            </a:r>
            <a:endParaRPr lang="en-US" sz="2400" dirty="0"/>
          </a:p>
        </p:txBody>
      </p:sp>
      <p:sp>
        <p:nvSpPr>
          <p:cNvPr id="18" name="Text 16"/>
          <p:cNvSpPr/>
          <p:nvPr/>
        </p:nvSpPr>
        <p:spPr>
          <a:xfrm>
            <a:off x="5303258" y="2234208"/>
            <a:ext cx="3830244" cy="308570"/>
          </a:xfrm>
          <a:prstGeom prst="rect">
            <a:avLst/>
          </a:prstGeom>
          <a:noFill/>
          <a:ln/>
        </p:spPr>
        <p:txBody>
          <a:bodyPr wrap="none" lIns="0" tIns="0" rIns="0" bIns="0" rtlCol="0" anchor="t"/>
          <a:lstStyle/>
          <a:p>
            <a:pPr algn="ctr" indent="0" marL="0">
              <a:lnSpc>
                <a:spcPct val="113000"/>
              </a:lnSpc>
              <a:buNone/>
            </a:pPr>
            <a:r>
              <a:rPr lang="en-US" sz="1800" b="1" spc="-45" kern="100" dirty="0">
                <a:solidFill>
                  <a:srgbClr val="E9EEFF"/>
                </a:solidFill>
                <a:latin typeface="Familjen Grotesk Bold" pitchFamily="34" charset="0"/>
                <a:ea typeface="Familjen Grotesk Bold" pitchFamily="34" charset="-122"/>
                <a:cs typeface="Familjen Grotesk Bold" pitchFamily="34" charset="-120"/>
              </a:rPr>
              <a:t>Days 16–26</a:t>
            </a:r>
            <a:endParaRPr lang="en-US" sz="1800" dirty="0"/>
          </a:p>
        </p:txBody>
      </p:sp>
      <p:sp>
        <p:nvSpPr>
          <p:cNvPr id="19" name="Text 17"/>
          <p:cNvSpPr/>
          <p:nvPr/>
        </p:nvSpPr>
        <p:spPr>
          <a:xfrm>
            <a:off x="5303308" y="2664619"/>
            <a:ext cx="3830244" cy="630833"/>
          </a:xfrm>
          <a:prstGeom prst="rect">
            <a:avLst/>
          </a:prstGeom>
          <a:noFill/>
          <a:ln/>
        </p:spPr>
        <p:txBody>
          <a:bodyPr wrap="square" lIns="0" tIns="0" rIns="0" bIns="0" rtlCol="0" anchor="t">
            <a:normAutofit/>
          </a:bodyPr>
          <a:lstStyle/>
          <a:p>
            <a:pPr algn="ctr" indent="0" marL="0">
              <a:lnSpc>
                <a:spcPct val="115000"/>
              </a:lnSpc>
              <a:buNone/>
            </a:pPr>
            <a:r>
              <a:rPr lang="en-US" sz="1800" dirty="0">
                <a:solidFill>
                  <a:srgbClr val="E9EEFF"/>
                </a:solidFill>
                <a:latin typeface="Onest" pitchFamily="34" charset="0"/>
                <a:ea typeface="Onest" pitchFamily="34" charset="-122"/>
                <a:cs typeface="Onest" pitchFamily="34" charset="-120"/>
              </a:rPr>
              <a:t>Models, repository, service, controller, views</a:t>
            </a:r>
            <a:endParaRPr lang="en-US" sz="1800" dirty="0"/>
          </a:p>
        </p:txBody>
      </p:sp>
      <p:sp>
        <p:nvSpPr>
          <p:cNvPr id="20" name="Shape 18"/>
          <p:cNvSpPr/>
          <p:nvPr/>
        </p:nvSpPr>
        <p:spPr>
          <a:xfrm>
            <a:off x="9449457" y="4108252"/>
            <a:ext cx="28574" cy="609600"/>
          </a:xfrm>
          <a:prstGeom prst="roundRect">
            <a:avLst>
              <a:gd name="adj" fmla="val 40000"/>
            </a:avLst>
          </a:prstGeom>
          <a:solidFill>
            <a:srgbClr val="454F87"/>
          </a:solidFill>
          <a:ln/>
        </p:spPr>
      </p:sp>
      <p:sp>
        <p:nvSpPr>
          <p:cNvPr id="21" name="Shape 19"/>
          <p:cNvSpPr/>
          <p:nvPr/>
        </p:nvSpPr>
        <p:spPr>
          <a:xfrm>
            <a:off x="9235149" y="3879652"/>
            <a:ext cx="457189" cy="457200"/>
          </a:xfrm>
          <a:prstGeom prst="roundRect">
            <a:avLst>
              <a:gd name="adj" fmla="val 2500"/>
            </a:avLst>
          </a:prstGeom>
          <a:solidFill>
            <a:srgbClr val="0D174F"/>
          </a:solidFill>
          <a:ln w="12700">
            <a:solidFill>
              <a:srgbClr val="454F87"/>
            </a:solidFill>
            <a:prstDash val="solid"/>
          </a:ln>
        </p:spPr>
      </p:sp>
      <p:sp>
        <p:nvSpPr>
          <p:cNvPr id="22" name="Text 20"/>
          <p:cNvSpPr/>
          <p:nvPr/>
        </p:nvSpPr>
        <p:spPr>
          <a:xfrm>
            <a:off x="9311348" y="3952825"/>
            <a:ext cx="304792" cy="310852"/>
          </a:xfrm>
          <a:prstGeom prst="rect">
            <a:avLst/>
          </a:prstGeom>
          <a:noFill/>
          <a:ln/>
        </p:spPr>
        <p:txBody>
          <a:bodyPr wrap="none" lIns="0" tIns="0" rIns="0" bIns="0" rtlCol="0" anchor="ctr"/>
          <a:lstStyle/>
          <a:p>
            <a:pPr algn="ctr" indent="0" marL="0">
              <a:lnSpc>
                <a:spcPct val="100000"/>
              </a:lnSpc>
              <a:buNone/>
            </a:pPr>
            <a:r>
              <a:rPr lang="en-US" sz="2400" b="1" spc="-60" kern="100" dirty="0">
                <a:solidFill>
                  <a:srgbClr val="E9EEFF"/>
                </a:solidFill>
                <a:latin typeface="Familjen Grotesk Bold" pitchFamily="34" charset="0"/>
                <a:ea typeface="Familjen Grotesk Bold" pitchFamily="34" charset="-122"/>
                <a:cs typeface="Familjen Grotesk Bold" pitchFamily="34" charset="-120"/>
              </a:rPr>
              <a:t>4</a:t>
            </a:r>
            <a:endParaRPr lang="en-US" sz="2400" dirty="0"/>
          </a:p>
        </p:txBody>
      </p:sp>
      <p:sp>
        <p:nvSpPr>
          <p:cNvPr id="23" name="Text 21"/>
          <p:cNvSpPr/>
          <p:nvPr/>
        </p:nvSpPr>
        <p:spPr>
          <a:xfrm>
            <a:off x="7548622" y="4921052"/>
            <a:ext cx="3830244" cy="308570"/>
          </a:xfrm>
          <a:prstGeom prst="rect">
            <a:avLst/>
          </a:prstGeom>
          <a:noFill/>
          <a:ln/>
        </p:spPr>
        <p:txBody>
          <a:bodyPr wrap="none" lIns="0" tIns="0" rIns="0" bIns="0" rtlCol="0" anchor="t"/>
          <a:lstStyle/>
          <a:p>
            <a:pPr algn="ctr" indent="0" marL="0">
              <a:lnSpc>
                <a:spcPct val="113000"/>
              </a:lnSpc>
              <a:buNone/>
            </a:pPr>
            <a:r>
              <a:rPr lang="en-US" sz="1800" b="1" spc="-45" kern="100" dirty="0">
                <a:solidFill>
                  <a:srgbClr val="E9EEFF"/>
                </a:solidFill>
                <a:latin typeface="Familjen Grotesk Bold" pitchFamily="34" charset="0"/>
                <a:ea typeface="Familjen Grotesk Bold" pitchFamily="34" charset="-122"/>
                <a:cs typeface="Familjen Grotesk Bold" pitchFamily="34" charset="-120"/>
              </a:rPr>
              <a:t>Days 27–30</a:t>
            </a:r>
            <a:endParaRPr lang="en-US" sz="1800" dirty="0"/>
          </a:p>
        </p:txBody>
      </p:sp>
      <p:sp>
        <p:nvSpPr>
          <p:cNvPr id="24" name="Text 22"/>
          <p:cNvSpPr/>
          <p:nvPr/>
        </p:nvSpPr>
        <p:spPr>
          <a:xfrm>
            <a:off x="7548671" y="5351462"/>
            <a:ext cx="3830244" cy="630833"/>
          </a:xfrm>
          <a:prstGeom prst="rect">
            <a:avLst/>
          </a:prstGeom>
          <a:noFill/>
          <a:ln/>
        </p:spPr>
        <p:txBody>
          <a:bodyPr wrap="square" lIns="0" tIns="0" rIns="0" bIns="0" rtlCol="0" anchor="t">
            <a:normAutofit/>
          </a:bodyPr>
          <a:lstStyle/>
          <a:p>
            <a:pPr algn="ctr" indent="0" marL="0">
              <a:lnSpc>
                <a:spcPct val="115000"/>
              </a:lnSpc>
              <a:buNone/>
            </a:pPr>
            <a:r>
              <a:rPr lang="en-US" sz="1800" dirty="0">
                <a:solidFill>
                  <a:srgbClr val="E9EEFF"/>
                </a:solidFill>
                <a:latin typeface="Onest" pitchFamily="34" charset="0"/>
                <a:ea typeface="Onest" pitchFamily="34" charset="-122"/>
                <a:cs typeface="Onest" pitchFamily="34" charset="-120"/>
              </a:rPr>
              <a:t>Search, testing, docs, polish, final evaluation</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23882" y="657999"/>
            <a:ext cx="2473065" cy="194965"/>
          </a:xfrm>
          <a:prstGeom prst="rect">
            <a:avLst/>
          </a:prstGeom>
          <a:noFill/>
          <a:ln/>
        </p:spPr>
        <p:txBody>
          <a:bodyPr wrap="none" lIns="0" tIns="0" rIns="0" bIns="0" rtlCol="0" anchor="t"/>
          <a:lstStyle/>
          <a:p>
            <a:pPr algn="l" indent="0" marL="0">
              <a:lnSpc>
                <a:spcPct val="100000"/>
              </a:lnSpc>
              <a:buNone/>
            </a:pPr>
            <a:r>
              <a:rPr lang="en-US" sz="1300" spc="128" kern="100" dirty="0">
                <a:solidFill>
                  <a:srgbClr val="E9EEFF"/>
                </a:solidFill>
                <a:latin typeface="Onest SemiBold" pitchFamily="34" charset="0"/>
                <a:ea typeface="Onest SemiBold" pitchFamily="34" charset="-122"/>
                <a:cs typeface="Onest SemiBold" pitchFamily="34" charset="-120"/>
              </a:rPr>
              <a:t>04 · ARCHITECTURE</a:t>
            </a:r>
            <a:endParaRPr lang="en-US" sz="1300" dirty="0"/>
          </a:p>
        </p:txBody>
      </p:sp>
      <p:sp>
        <p:nvSpPr>
          <p:cNvPr id="3" name="Text 1"/>
          <p:cNvSpPr/>
          <p:nvPr/>
        </p:nvSpPr>
        <p:spPr>
          <a:xfrm>
            <a:off x="609585" y="1051525"/>
            <a:ext cx="10972526" cy="440432"/>
          </a:xfrm>
          <a:prstGeom prst="rect">
            <a:avLst/>
          </a:prstGeom>
          <a:noFill/>
          <a:ln/>
        </p:spPr>
        <p:txBody>
          <a:bodyPr wrap="none" lIns="0" tIns="0" rIns="0" bIns="0" rtlCol="0" anchor="t"/>
          <a:lstStyle/>
          <a:p>
            <a:pPr algn="l" indent="0" marL="0">
              <a:lnSpc>
                <a:spcPct val="85000"/>
              </a:lnSpc>
              <a:buNone/>
            </a:pPr>
            <a:r>
              <a:rPr lang="en-US" sz="3400" b="1" spc="-85" kern="100" dirty="0">
                <a:solidFill>
                  <a:srgbClr val="FFFFFF"/>
                </a:solidFill>
                <a:latin typeface="Familjen Grotesk Bold" pitchFamily="34" charset="0"/>
                <a:ea typeface="Familjen Grotesk Bold" pitchFamily="34" charset="-122"/>
                <a:cs typeface="Familjen Grotesk Bold" pitchFamily="34" charset="-120"/>
              </a:rPr>
              <a:t>Layered design keeps HeroHub organized and maintainable</a:t>
            </a:r>
            <a:endParaRPr lang="en-US" sz="3400" dirty="0"/>
          </a:p>
        </p:txBody>
      </p:sp>
      <p:pic>
        <p:nvPicPr>
          <p:cNvPr id="4" name="Image 0" descr="preencoded.png">    </p:cNvPr>
          <p:cNvPicPr>
            <a:picLocks noChangeAspect="1"/>
          </p:cNvPicPr>
          <p:nvPr/>
        </p:nvPicPr>
        <p:blipFill>
          <a:blip r:embed="rId1"/>
          <a:stretch>
            <a:fillRect/>
          </a:stretch>
        </p:blipFill>
        <p:spPr>
          <a:xfrm>
            <a:off x="609585" y="1625997"/>
            <a:ext cx="7298944" cy="457190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23882" y="657999"/>
            <a:ext cx="2792839" cy="194965"/>
          </a:xfrm>
          <a:prstGeom prst="rect">
            <a:avLst/>
          </a:prstGeom>
          <a:noFill/>
          <a:ln/>
        </p:spPr>
        <p:txBody>
          <a:bodyPr wrap="none" lIns="0" tIns="0" rIns="0" bIns="0" rtlCol="0" anchor="t"/>
          <a:lstStyle/>
          <a:p>
            <a:pPr algn="l" indent="0" marL="0">
              <a:lnSpc>
                <a:spcPct val="100000"/>
              </a:lnSpc>
              <a:buNone/>
            </a:pPr>
            <a:r>
              <a:rPr lang="en-US" sz="1300" spc="128" kern="100" dirty="0">
                <a:solidFill>
                  <a:srgbClr val="FFFFFF"/>
                </a:solidFill>
                <a:latin typeface="Onest SemiBold" pitchFamily="34" charset="0"/>
                <a:ea typeface="Onest SemiBold" pitchFamily="34" charset="-122"/>
                <a:cs typeface="Onest SemiBold" pitchFamily="34" charset="-120"/>
              </a:rPr>
              <a:t>05 · PORTAL FEATURES</a:t>
            </a:r>
            <a:endParaRPr lang="en-US" sz="1300" dirty="0"/>
          </a:p>
        </p:txBody>
      </p:sp>
      <p:sp>
        <p:nvSpPr>
          <p:cNvPr id="3" name="Text 1"/>
          <p:cNvSpPr/>
          <p:nvPr/>
        </p:nvSpPr>
        <p:spPr>
          <a:xfrm>
            <a:off x="609585" y="1051525"/>
            <a:ext cx="10972526" cy="440432"/>
          </a:xfrm>
          <a:prstGeom prst="rect">
            <a:avLst/>
          </a:prstGeom>
          <a:noFill/>
          <a:ln/>
        </p:spPr>
        <p:txBody>
          <a:bodyPr wrap="none" lIns="0" tIns="0" rIns="0" bIns="0" rtlCol="0" anchor="t"/>
          <a:lstStyle/>
          <a:p>
            <a:pPr algn="l" indent="0" marL="0">
              <a:lnSpc>
                <a:spcPct val="85000"/>
              </a:lnSpc>
              <a:buNone/>
            </a:pPr>
            <a:r>
              <a:rPr lang="en-US" sz="3400" b="1" spc="-85" kern="100" dirty="0">
                <a:solidFill>
                  <a:srgbClr val="FFFFFF"/>
                </a:solidFill>
                <a:latin typeface="Familjen Grotesk Bold" pitchFamily="34" charset="0"/>
                <a:ea typeface="Familjen Grotesk Bold" pitchFamily="34" charset="-122"/>
                <a:cs typeface="Familjen Grotesk Bold" pitchFamily="34" charset="-120"/>
              </a:rPr>
              <a:t>Six features make the portal useful at a glance</a:t>
            </a:r>
            <a:endParaRPr lang="en-US" sz="3400" dirty="0"/>
          </a:p>
        </p:txBody>
      </p:sp>
      <p:sp>
        <p:nvSpPr>
          <p:cNvPr id="4" name="Shape 2"/>
          <p:cNvSpPr/>
          <p:nvPr/>
        </p:nvSpPr>
        <p:spPr>
          <a:xfrm>
            <a:off x="609585" y="1702197"/>
            <a:ext cx="3581310" cy="2196703"/>
          </a:xfrm>
          <a:prstGeom prst="roundRect">
            <a:avLst>
              <a:gd name="adj" fmla="val 5550"/>
            </a:avLst>
          </a:prstGeom>
          <a:solidFill>
            <a:srgbClr val="152060"/>
          </a:solidFill>
          <a:ln/>
        </p:spPr>
      </p:sp>
      <p:pic>
        <p:nvPicPr>
          <p:cNvPr id="5" name="Image 0" descr="preencoded.png">    </p:cNvPr>
          <p:cNvPicPr>
            <a:picLocks noChangeAspect="1"/>
          </p:cNvPicPr>
          <p:nvPr/>
        </p:nvPicPr>
        <p:blipFill>
          <a:blip r:embed="rId1"/>
          <a:stretch>
            <a:fillRect/>
          </a:stretch>
        </p:blipFill>
        <p:spPr>
          <a:xfrm>
            <a:off x="838179" y="1930797"/>
            <a:ext cx="507987" cy="508000"/>
          </a:xfrm>
          <a:prstGeom prst="rect">
            <a:avLst/>
          </a:prstGeom>
        </p:spPr>
      </p:pic>
      <p:sp>
        <p:nvSpPr>
          <p:cNvPr id="6" name="Text 3"/>
          <p:cNvSpPr/>
          <p:nvPr/>
        </p:nvSpPr>
        <p:spPr>
          <a:xfrm>
            <a:off x="838179" y="2540397"/>
            <a:ext cx="3124122" cy="308570"/>
          </a:xfrm>
          <a:prstGeom prst="rect">
            <a:avLst/>
          </a:prstGeom>
          <a:noFill/>
          <a:ln/>
        </p:spPr>
        <p:txBody>
          <a:bodyPr wrap="none" lIns="0" tIns="0" rIns="0" bIns="0" rtlCol="0" anchor="t"/>
          <a:lstStyle/>
          <a:p>
            <a:pPr algn="l" indent="0" marL="0">
              <a:lnSpc>
                <a:spcPct val="113000"/>
              </a:lnSpc>
              <a:buNone/>
            </a:pPr>
            <a:r>
              <a:rPr lang="en-US" sz="1800" dirty="0">
                <a:solidFill>
                  <a:srgbClr val="E9EEFF"/>
                </a:solidFill>
                <a:latin typeface="Onest" pitchFamily="34" charset="0"/>
                <a:ea typeface="Onest" pitchFamily="34" charset="-122"/>
                <a:cs typeface="Onest" pitchFamily="34" charset="-120"/>
              </a:rPr>
              <a:t>Dashboard</a:t>
            </a:r>
            <a:endParaRPr lang="en-US" sz="1800" dirty="0"/>
          </a:p>
        </p:txBody>
      </p:sp>
      <p:sp>
        <p:nvSpPr>
          <p:cNvPr id="7" name="Text 4"/>
          <p:cNvSpPr/>
          <p:nvPr/>
        </p:nvSpPr>
        <p:spPr>
          <a:xfrm>
            <a:off x="838179" y="3039467"/>
            <a:ext cx="3124122" cy="630833"/>
          </a:xfrm>
          <a:prstGeom prst="rect">
            <a:avLst/>
          </a:prstGeom>
          <a:noFill/>
          <a:ln/>
        </p:spPr>
        <p:txBody>
          <a:bodyPr wrap="square" lIns="0" tIns="0" rIns="0" bIns="0" rtlCol="0" anchor="t">
            <a:normAutofit/>
          </a:bodyPr>
          <a:lstStyle/>
          <a:p>
            <a:pPr algn="l" indent="0" marL="0">
              <a:lnSpc>
                <a:spcPct val="115000"/>
              </a:lnSpc>
              <a:buNone/>
            </a:pPr>
            <a:r>
              <a:rPr lang="en-US" sz="1800" dirty="0">
                <a:solidFill>
                  <a:srgbClr val="E9EEFF"/>
                </a:solidFill>
                <a:latin typeface="Onest" pitchFamily="34" charset="0"/>
                <a:ea typeface="Onest" pitchFamily="34" charset="-122"/>
                <a:cs typeface="Onest" pitchFamily="34" charset="-120"/>
              </a:rPr>
              <a:t>Total staff, departments, average salary, breakdown</a:t>
            </a:r>
            <a:endParaRPr lang="en-US" sz="1800" dirty="0"/>
          </a:p>
        </p:txBody>
      </p:sp>
      <p:sp>
        <p:nvSpPr>
          <p:cNvPr id="8" name="Shape 5"/>
          <p:cNvSpPr/>
          <p:nvPr/>
        </p:nvSpPr>
        <p:spPr>
          <a:xfrm>
            <a:off x="4343291" y="1702197"/>
            <a:ext cx="3505112" cy="2196703"/>
          </a:xfrm>
          <a:prstGeom prst="roundRect">
            <a:avLst>
              <a:gd name="adj" fmla="val 5550"/>
            </a:avLst>
          </a:prstGeom>
          <a:solidFill>
            <a:srgbClr val="152060"/>
          </a:solidFill>
          <a:ln/>
        </p:spPr>
      </p:sp>
      <p:pic>
        <p:nvPicPr>
          <p:cNvPr id="9" name="Image 1" descr="preencoded.png">    </p:cNvPr>
          <p:cNvPicPr>
            <a:picLocks noChangeAspect="1"/>
          </p:cNvPicPr>
          <p:nvPr/>
        </p:nvPicPr>
        <p:blipFill>
          <a:blip r:embed="rId2"/>
          <a:stretch>
            <a:fillRect/>
          </a:stretch>
        </p:blipFill>
        <p:spPr>
          <a:xfrm>
            <a:off x="4571886" y="1930797"/>
            <a:ext cx="507987" cy="508000"/>
          </a:xfrm>
          <a:prstGeom prst="rect">
            <a:avLst/>
          </a:prstGeom>
        </p:spPr>
      </p:pic>
      <p:sp>
        <p:nvSpPr>
          <p:cNvPr id="10" name="Text 6"/>
          <p:cNvSpPr/>
          <p:nvPr/>
        </p:nvSpPr>
        <p:spPr>
          <a:xfrm>
            <a:off x="4571886" y="2540397"/>
            <a:ext cx="3047924" cy="308570"/>
          </a:xfrm>
          <a:prstGeom prst="rect">
            <a:avLst/>
          </a:prstGeom>
          <a:noFill/>
          <a:ln/>
        </p:spPr>
        <p:txBody>
          <a:bodyPr wrap="none" lIns="0" tIns="0" rIns="0" bIns="0" rtlCol="0" anchor="t"/>
          <a:lstStyle/>
          <a:p>
            <a:pPr algn="l" indent="0" marL="0">
              <a:lnSpc>
                <a:spcPct val="113000"/>
              </a:lnSpc>
              <a:buNone/>
            </a:pPr>
            <a:r>
              <a:rPr lang="en-US" sz="1800" dirty="0">
                <a:solidFill>
                  <a:srgbClr val="E9EEFF"/>
                </a:solidFill>
                <a:latin typeface="Onest" pitchFamily="34" charset="0"/>
                <a:ea typeface="Onest" pitchFamily="34" charset="-122"/>
                <a:cs typeface="Onest" pitchFamily="34" charset="-120"/>
              </a:rPr>
              <a:t>Directory</a:t>
            </a:r>
            <a:endParaRPr lang="en-US" sz="1800" dirty="0"/>
          </a:p>
        </p:txBody>
      </p:sp>
      <p:sp>
        <p:nvSpPr>
          <p:cNvPr id="11" name="Text 7"/>
          <p:cNvSpPr/>
          <p:nvPr/>
        </p:nvSpPr>
        <p:spPr>
          <a:xfrm>
            <a:off x="4571886" y="3039467"/>
            <a:ext cx="3047924" cy="630833"/>
          </a:xfrm>
          <a:prstGeom prst="rect">
            <a:avLst/>
          </a:prstGeom>
          <a:noFill/>
          <a:ln/>
        </p:spPr>
        <p:txBody>
          <a:bodyPr wrap="square" lIns="0" tIns="0" rIns="0" bIns="0" rtlCol="0" anchor="t">
            <a:normAutofit/>
          </a:bodyPr>
          <a:lstStyle/>
          <a:p>
            <a:pPr algn="l" indent="0" marL="0">
              <a:lnSpc>
                <a:spcPct val="115000"/>
              </a:lnSpc>
              <a:buNone/>
            </a:pPr>
            <a:r>
              <a:rPr lang="en-US" sz="1800" dirty="0">
                <a:solidFill>
                  <a:srgbClr val="E9EEFF"/>
                </a:solidFill>
                <a:latin typeface="Onest" pitchFamily="34" charset="0"/>
                <a:ea typeface="Onest" pitchFamily="34" charset="-122"/>
                <a:cs typeface="Onest" pitchFamily="34" charset="-120"/>
              </a:rPr>
              <a:t>Employee list with department badges</a:t>
            </a:r>
            <a:endParaRPr lang="en-US" sz="1800" dirty="0"/>
          </a:p>
        </p:txBody>
      </p:sp>
      <p:sp>
        <p:nvSpPr>
          <p:cNvPr id="12" name="Shape 8"/>
          <p:cNvSpPr/>
          <p:nvPr/>
        </p:nvSpPr>
        <p:spPr>
          <a:xfrm>
            <a:off x="8000800" y="1702197"/>
            <a:ext cx="3581310" cy="2196703"/>
          </a:xfrm>
          <a:prstGeom prst="roundRect">
            <a:avLst>
              <a:gd name="adj" fmla="val 5550"/>
            </a:avLst>
          </a:prstGeom>
          <a:solidFill>
            <a:srgbClr val="152060"/>
          </a:solidFill>
          <a:ln/>
        </p:spPr>
      </p:sp>
      <p:pic>
        <p:nvPicPr>
          <p:cNvPr id="13" name="Image 2" descr="preencoded.png">    </p:cNvPr>
          <p:cNvPicPr>
            <a:picLocks noChangeAspect="1"/>
          </p:cNvPicPr>
          <p:nvPr/>
        </p:nvPicPr>
        <p:blipFill>
          <a:blip r:embed="rId3"/>
          <a:stretch>
            <a:fillRect/>
          </a:stretch>
        </p:blipFill>
        <p:spPr>
          <a:xfrm>
            <a:off x="8229394" y="1930797"/>
            <a:ext cx="507987" cy="508000"/>
          </a:xfrm>
          <a:prstGeom prst="rect">
            <a:avLst/>
          </a:prstGeom>
        </p:spPr>
      </p:pic>
      <p:sp>
        <p:nvSpPr>
          <p:cNvPr id="14" name="Text 9"/>
          <p:cNvSpPr/>
          <p:nvPr/>
        </p:nvSpPr>
        <p:spPr>
          <a:xfrm>
            <a:off x="8229394" y="2540397"/>
            <a:ext cx="3124122" cy="308570"/>
          </a:xfrm>
          <a:prstGeom prst="rect">
            <a:avLst/>
          </a:prstGeom>
          <a:noFill/>
          <a:ln/>
        </p:spPr>
        <p:txBody>
          <a:bodyPr wrap="none" lIns="0" tIns="0" rIns="0" bIns="0" rtlCol="0" anchor="t"/>
          <a:lstStyle/>
          <a:p>
            <a:pPr algn="l" indent="0" marL="0">
              <a:lnSpc>
                <a:spcPct val="113000"/>
              </a:lnSpc>
              <a:buNone/>
            </a:pPr>
            <a:r>
              <a:rPr lang="en-US" sz="1800" dirty="0">
                <a:solidFill>
                  <a:srgbClr val="E9EEFF"/>
                </a:solidFill>
                <a:latin typeface="Onest" pitchFamily="34" charset="0"/>
                <a:ea typeface="Onest" pitchFamily="34" charset="-122"/>
                <a:cs typeface="Onest" pitchFamily="34" charset="-120"/>
              </a:rPr>
              <a:t>Add / edit</a:t>
            </a:r>
            <a:endParaRPr lang="en-US" sz="1800" dirty="0"/>
          </a:p>
        </p:txBody>
      </p:sp>
      <p:sp>
        <p:nvSpPr>
          <p:cNvPr id="15" name="Text 10"/>
          <p:cNvSpPr/>
          <p:nvPr/>
        </p:nvSpPr>
        <p:spPr>
          <a:xfrm>
            <a:off x="8229394" y="3039467"/>
            <a:ext cx="3124122" cy="630833"/>
          </a:xfrm>
          <a:prstGeom prst="rect">
            <a:avLst/>
          </a:prstGeom>
          <a:noFill/>
          <a:ln/>
        </p:spPr>
        <p:txBody>
          <a:bodyPr wrap="square" lIns="0" tIns="0" rIns="0" bIns="0" rtlCol="0" anchor="t">
            <a:normAutofit/>
          </a:bodyPr>
          <a:lstStyle/>
          <a:p>
            <a:pPr algn="l" indent="0" marL="0">
              <a:lnSpc>
                <a:spcPct val="115000"/>
              </a:lnSpc>
              <a:buNone/>
            </a:pPr>
            <a:r>
              <a:rPr lang="en-US" sz="1800" dirty="0">
                <a:solidFill>
                  <a:srgbClr val="E9EEFF"/>
                </a:solidFill>
                <a:latin typeface="Onest" pitchFamily="34" charset="0"/>
                <a:ea typeface="Onest" pitchFamily="34" charset="-122"/>
                <a:cs typeface="Onest" pitchFamily="34" charset="-120"/>
              </a:rPr>
              <a:t>Dual-mode employee form with validation</a:t>
            </a:r>
            <a:endParaRPr lang="en-US" sz="1800" dirty="0"/>
          </a:p>
        </p:txBody>
      </p:sp>
      <p:sp>
        <p:nvSpPr>
          <p:cNvPr id="16" name="Shape 11"/>
          <p:cNvSpPr/>
          <p:nvPr/>
        </p:nvSpPr>
        <p:spPr>
          <a:xfrm>
            <a:off x="609585" y="4051300"/>
            <a:ext cx="3581310" cy="2196703"/>
          </a:xfrm>
          <a:prstGeom prst="roundRect">
            <a:avLst>
              <a:gd name="adj" fmla="val 5550"/>
            </a:avLst>
          </a:prstGeom>
          <a:solidFill>
            <a:srgbClr val="152060"/>
          </a:solidFill>
          <a:ln/>
        </p:spPr>
      </p:sp>
      <p:pic>
        <p:nvPicPr>
          <p:cNvPr id="17" name="Image 3" descr="preencoded.png">    </p:cNvPr>
          <p:cNvPicPr>
            <a:picLocks noChangeAspect="1"/>
          </p:cNvPicPr>
          <p:nvPr/>
        </p:nvPicPr>
        <p:blipFill>
          <a:blip r:embed="rId4"/>
          <a:stretch>
            <a:fillRect/>
          </a:stretch>
        </p:blipFill>
        <p:spPr>
          <a:xfrm>
            <a:off x="838179" y="4279900"/>
            <a:ext cx="507987" cy="508000"/>
          </a:xfrm>
          <a:prstGeom prst="rect">
            <a:avLst/>
          </a:prstGeom>
        </p:spPr>
      </p:pic>
      <p:sp>
        <p:nvSpPr>
          <p:cNvPr id="18" name="Text 12"/>
          <p:cNvSpPr/>
          <p:nvPr/>
        </p:nvSpPr>
        <p:spPr>
          <a:xfrm>
            <a:off x="838179" y="4889500"/>
            <a:ext cx="3124122" cy="308570"/>
          </a:xfrm>
          <a:prstGeom prst="rect">
            <a:avLst/>
          </a:prstGeom>
          <a:noFill/>
          <a:ln/>
        </p:spPr>
        <p:txBody>
          <a:bodyPr wrap="none" lIns="0" tIns="0" rIns="0" bIns="0" rtlCol="0" anchor="t"/>
          <a:lstStyle/>
          <a:p>
            <a:pPr algn="l" indent="0" marL="0">
              <a:lnSpc>
                <a:spcPct val="113000"/>
              </a:lnSpc>
              <a:buNone/>
            </a:pPr>
            <a:r>
              <a:rPr lang="en-US" sz="1800" dirty="0">
                <a:solidFill>
                  <a:srgbClr val="E9EEFF"/>
                </a:solidFill>
                <a:latin typeface="Onest" pitchFamily="34" charset="0"/>
                <a:ea typeface="Onest" pitchFamily="34" charset="-122"/>
                <a:cs typeface="Onest" pitchFamily="34" charset="-120"/>
              </a:rPr>
              <a:t>Profile</a:t>
            </a:r>
            <a:endParaRPr lang="en-US" sz="1800" dirty="0"/>
          </a:p>
        </p:txBody>
      </p:sp>
      <p:sp>
        <p:nvSpPr>
          <p:cNvPr id="19" name="Text 13"/>
          <p:cNvSpPr/>
          <p:nvPr/>
        </p:nvSpPr>
        <p:spPr>
          <a:xfrm>
            <a:off x="838179" y="5388570"/>
            <a:ext cx="3124122" cy="630833"/>
          </a:xfrm>
          <a:prstGeom prst="rect">
            <a:avLst/>
          </a:prstGeom>
          <a:noFill/>
          <a:ln/>
        </p:spPr>
        <p:txBody>
          <a:bodyPr wrap="square" lIns="0" tIns="0" rIns="0" bIns="0" rtlCol="0" anchor="t">
            <a:normAutofit/>
          </a:bodyPr>
          <a:lstStyle/>
          <a:p>
            <a:pPr algn="l" indent="0" marL="0">
              <a:lnSpc>
                <a:spcPct val="115000"/>
              </a:lnSpc>
              <a:buNone/>
            </a:pPr>
            <a:r>
              <a:rPr lang="en-US" sz="1800" dirty="0">
                <a:solidFill>
                  <a:srgbClr val="E9EEFF"/>
                </a:solidFill>
                <a:latin typeface="Onest" pitchFamily="34" charset="0"/>
                <a:ea typeface="Onest" pitchFamily="34" charset="-122"/>
                <a:cs typeface="Onest" pitchFamily="34" charset="-120"/>
              </a:rPr>
              <a:t>Individual employee detail view</a:t>
            </a:r>
            <a:endParaRPr lang="en-US" sz="1800" dirty="0"/>
          </a:p>
        </p:txBody>
      </p:sp>
      <p:sp>
        <p:nvSpPr>
          <p:cNvPr id="20" name="Shape 14"/>
          <p:cNvSpPr/>
          <p:nvPr/>
        </p:nvSpPr>
        <p:spPr>
          <a:xfrm>
            <a:off x="4343291" y="4051300"/>
            <a:ext cx="3505112" cy="2196703"/>
          </a:xfrm>
          <a:prstGeom prst="roundRect">
            <a:avLst>
              <a:gd name="adj" fmla="val 5550"/>
            </a:avLst>
          </a:prstGeom>
          <a:solidFill>
            <a:srgbClr val="152060"/>
          </a:solidFill>
          <a:ln/>
        </p:spPr>
      </p:sp>
      <p:pic>
        <p:nvPicPr>
          <p:cNvPr id="21" name="Image 4" descr="preencoded.png">    </p:cNvPr>
          <p:cNvPicPr>
            <a:picLocks noChangeAspect="1"/>
          </p:cNvPicPr>
          <p:nvPr/>
        </p:nvPicPr>
        <p:blipFill>
          <a:blip r:embed="rId5"/>
          <a:stretch>
            <a:fillRect/>
          </a:stretch>
        </p:blipFill>
        <p:spPr>
          <a:xfrm>
            <a:off x="4571886" y="4279900"/>
            <a:ext cx="507987" cy="508000"/>
          </a:xfrm>
          <a:prstGeom prst="rect">
            <a:avLst/>
          </a:prstGeom>
        </p:spPr>
      </p:pic>
      <p:sp>
        <p:nvSpPr>
          <p:cNvPr id="22" name="Text 15"/>
          <p:cNvSpPr/>
          <p:nvPr/>
        </p:nvSpPr>
        <p:spPr>
          <a:xfrm>
            <a:off x="4571886" y="4889500"/>
            <a:ext cx="3047924" cy="308570"/>
          </a:xfrm>
          <a:prstGeom prst="rect">
            <a:avLst/>
          </a:prstGeom>
          <a:noFill/>
          <a:ln/>
        </p:spPr>
        <p:txBody>
          <a:bodyPr wrap="none" lIns="0" tIns="0" rIns="0" bIns="0" rtlCol="0" anchor="t"/>
          <a:lstStyle/>
          <a:p>
            <a:pPr algn="l" indent="0" marL="0">
              <a:lnSpc>
                <a:spcPct val="113000"/>
              </a:lnSpc>
              <a:buNone/>
            </a:pPr>
            <a:r>
              <a:rPr lang="en-US" sz="1800" dirty="0">
                <a:solidFill>
                  <a:srgbClr val="E9EEFF"/>
                </a:solidFill>
                <a:latin typeface="Onest" pitchFamily="34" charset="0"/>
                <a:ea typeface="Onest" pitchFamily="34" charset="-122"/>
                <a:cs typeface="Onest" pitchFamily="34" charset="-120"/>
              </a:rPr>
              <a:t>Search</a:t>
            </a:r>
            <a:endParaRPr lang="en-US" sz="1800" dirty="0"/>
          </a:p>
        </p:txBody>
      </p:sp>
      <p:sp>
        <p:nvSpPr>
          <p:cNvPr id="23" name="Text 16"/>
          <p:cNvSpPr/>
          <p:nvPr/>
        </p:nvSpPr>
        <p:spPr>
          <a:xfrm>
            <a:off x="4571886" y="5388570"/>
            <a:ext cx="3047924" cy="630833"/>
          </a:xfrm>
          <a:prstGeom prst="rect">
            <a:avLst/>
          </a:prstGeom>
          <a:noFill/>
          <a:ln/>
        </p:spPr>
        <p:txBody>
          <a:bodyPr wrap="square" lIns="0" tIns="0" rIns="0" bIns="0" rtlCol="0" anchor="t">
            <a:normAutofit/>
          </a:bodyPr>
          <a:lstStyle/>
          <a:p>
            <a:pPr algn="l" indent="0" marL="0">
              <a:lnSpc>
                <a:spcPct val="115000"/>
              </a:lnSpc>
              <a:buNone/>
            </a:pPr>
            <a:r>
              <a:rPr lang="en-US" sz="1800" dirty="0">
                <a:solidFill>
                  <a:srgbClr val="E9EEFF"/>
                </a:solidFill>
                <a:latin typeface="Onest" pitchFamily="34" charset="0"/>
                <a:ea typeface="Onest" pitchFamily="34" charset="-122"/>
                <a:cs typeface="Onest" pitchFamily="34" charset="-120"/>
              </a:rPr>
              <a:t>Filter by ID, name, department, or designation</a:t>
            </a:r>
            <a:endParaRPr lang="en-US" sz="1800" dirty="0"/>
          </a:p>
        </p:txBody>
      </p:sp>
      <p:sp>
        <p:nvSpPr>
          <p:cNvPr id="24" name="Shape 17"/>
          <p:cNvSpPr/>
          <p:nvPr/>
        </p:nvSpPr>
        <p:spPr>
          <a:xfrm>
            <a:off x="8000800" y="4051300"/>
            <a:ext cx="3581310" cy="2196703"/>
          </a:xfrm>
          <a:prstGeom prst="roundRect">
            <a:avLst>
              <a:gd name="adj" fmla="val 5550"/>
            </a:avLst>
          </a:prstGeom>
          <a:solidFill>
            <a:srgbClr val="152060"/>
          </a:solidFill>
          <a:ln/>
        </p:spPr>
      </p:sp>
      <p:pic>
        <p:nvPicPr>
          <p:cNvPr id="25" name="Image 5" descr="preencoded.png">    </p:cNvPr>
          <p:cNvPicPr>
            <a:picLocks noChangeAspect="1"/>
          </p:cNvPicPr>
          <p:nvPr/>
        </p:nvPicPr>
        <p:blipFill>
          <a:blip r:embed="rId6"/>
          <a:stretch>
            <a:fillRect/>
          </a:stretch>
        </p:blipFill>
        <p:spPr>
          <a:xfrm>
            <a:off x="8229394" y="4279900"/>
            <a:ext cx="507987" cy="508000"/>
          </a:xfrm>
          <a:prstGeom prst="rect">
            <a:avLst/>
          </a:prstGeom>
        </p:spPr>
      </p:pic>
      <p:sp>
        <p:nvSpPr>
          <p:cNvPr id="26" name="Text 18"/>
          <p:cNvSpPr/>
          <p:nvPr/>
        </p:nvSpPr>
        <p:spPr>
          <a:xfrm>
            <a:off x="8229394" y="4889500"/>
            <a:ext cx="3124122" cy="308570"/>
          </a:xfrm>
          <a:prstGeom prst="rect">
            <a:avLst/>
          </a:prstGeom>
          <a:noFill/>
          <a:ln/>
        </p:spPr>
        <p:txBody>
          <a:bodyPr wrap="none" lIns="0" tIns="0" rIns="0" bIns="0" rtlCol="0" anchor="t"/>
          <a:lstStyle/>
          <a:p>
            <a:pPr algn="l" indent="0" marL="0">
              <a:lnSpc>
                <a:spcPct val="113000"/>
              </a:lnSpc>
              <a:buNone/>
            </a:pPr>
            <a:r>
              <a:rPr lang="en-US" sz="1800" dirty="0">
                <a:solidFill>
                  <a:srgbClr val="E9EEFF"/>
                </a:solidFill>
                <a:latin typeface="Onest" pitchFamily="34" charset="0"/>
                <a:ea typeface="Onest" pitchFamily="34" charset="-122"/>
                <a:cs typeface="Onest" pitchFamily="34" charset="-120"/>
              </a:rPr>
              <a:t>OOP model</a:t>
            </a:r>
            <a:endParaRPr lang="en-US" sz="1800" dirty="0"/>
          </a:p>
        </p:txBody>
      </p:sp>
      <p:sp>
        <p:nvSpPr>
          <p:cNvPr id="27" name="Text 19"/>
          <p:cNvSpPr/>
          <p:nvPr/>
        </p:nvSpPr>
        <p:spPr>
          <a:xfrm>
            <a:off x="8229394" y="5388570"/>
            <a:ext cx="3124122" cy="630833"/>
          </a:xfrm>
          <a:prstGeom prst="rect">
            <a:avLst/>
          </a:prstGeom>
          <a:noFill/>
          <a:ln/>
        </p:spPr>
        <p:txBody>
          <a:bodyPr wrap="square" lIns="0" tIns="0" rIns="0" bIns="0" rtlCol="0" anchor="t">
            <a:normAutofit/>
          </a:bodyPr>
          <a:lstStyle/>
          <a:p>
            <a:pPr algn="l" indent="0" marL="0">
              <a:lnSpc>
                <a:spcPct val="115000"/>
              </a:lnSpc>
              <a:buNone/>
            </a:pPr>
            <a:r>
              <a:rPr lang="en-US" sz="1800" dirty="0">
                <a:solidFill>
                  <a:srgbClr val="E9EEFF"/>
                </a:solidFill>
                <a:latin typeface="Onest" pitchFamily="34" charset="0"/>
                <a:ea typeface="Onest" pitchFamily="34" charset="-122"/>
                <a:cs typeface="Onest" pitchFamily="34" charset="-120"/>
              </a:rPr>
              <a:t>Employee extends the Person base class</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23882" y="657999"/>
            <a:ext cx="2490527" cy="194965"/>
          </a:xfrm>
          <a:prstGeom prst="rect">
            <a:avLst/>
          </a:prstGeom>
          <a:noFill/>
          <a:ln/>
        </p:spPr>
        <p:txBody>
          <a:bodyPr wrap="none" lIns="0" tIns="0" rIns="0" bIns="0" rtlCol="0" anchor="t"/>
          <a:lstStyle/>
          <a:p>
            <a:pPr algn="l" indent="0" marL="0">
              <a:lnSpc>
                <a:spcPct val="100000"/>
              </a:lnSpc>
              <a:buNone/>
            </a:pPr>
            <a:r>
              <a:rPr lang="en-US" sz="1300" spc="128" kern="100" dirty="0">
                <a:solidFill>
                  <a:srgbClr val="FFFFFF"/>
                </a:solidFill>
                <a:latin typeface="Onest SemiBold" pitchFamily="34" charset="0"/>
                <a:ea typeface="Onest SemiBold" pitchFamily="34" charset="-122"/>
                <a:cs typeface="Onest SemiBold" pitchFamily="34" charset="-120"/>
              </a:rPr>
              <a:t>06 · USER JOURNEY</a:t>
            </a:r>
            <a:endParaRPr lang="en-US" sz="1300" dirty="0"/>
          </a:p>
        </p:txBody>
      </p:sp>
      <p:sp>
        <p:nvSpPr>
          <p:cNvPr id="3" name="Text 1"/>
          <p:cNvSpPr/>
          <p:nvPr/>
        </p:nvSpPr>
        <p:spPr>
          <a:xfrm>
            <a:off x="609585" y="1130900"/>
            <a:ext cx="6507397" cy="880864"/>
          </a:xfrm>
          <a:prstGeom prst="rect">
            <a:avLst/>
          </a:prstGeom>
          <a:noFill/>
          <a:ln/>
        </p:spPr>
        <p:txBody>
          <a:bodyPr wrap="square" lIns="0" tIns="0" rIns="0" bIns="0" rtlCol="0" anchor="t">
            <a:normAutofit/>
          </a:bodyPr>
          <a:lstStyle/>
          <a:p>
            <a:pPr algn="l" indent="0" marL="0">
              <a:lnSpc>
                <a:spcPct val="85000"/>
              </a:lnSpc>
              <a:buNone/>
            </a:pPr>
            <a:r>
              <a:rPr lang="en-US" sz="3400" b="1" spc="-85" kern="100" dirty="0">
                <a:solidFill>
                  <a:srgbClr val="FFFFFF"/>
                </a:solidFill>
                <a:latin typeface="Familjen Grotesk Bold" pitchFamily="34" charset="0"/>
                <a:ea typeface="Familjen Grotesk Bold" pitchFamily="34" charset="-122"/>
                <a:cs typeface="Familjen Grotesk Bold" pitchFamily="34" charset="-120"/>
              </a:rPr>
              <a:t>A user moves from dashboard to a filtered employee view</a:t>
            </a:r>
            <a:endParaRPr lang="en-US" sz="3400" dirty="0"/>
          </a:p>
        </p:txBody>
      </p:sp>
      <p:sp>
        <p:nvSpPr>
          <p:cNvPr id="4" name="Text 2"/>
          <p:cNvSpPr/>
          <p:nvPr/>
        </p:nvSpPr>
        <p:spPr>
          <a:xfrm>
            <a:off x="609585" y="2145804"/>
            <a:ext cx="821610" cy="203200"/>
          </a:xfrm>
          <a:prstGeom prst="rect">
            <a:avLst/>
          </a:prstGeom>
          <a:noFill/>
          <a:ln/>
        </p:spPr>
        <p:txBody>
          <a:bodyPr wrap="none" lIns="0" tIns="0" rIns="0" bIns="0" rtlCol="0" anchor="t"/>
          <a:lstStyle/>
          <a:p>
            <a:pPr algn="l" indent="0" marL="0">
              <a:lnSpc>
                <a:spcPct val="83000"/>
              </a:lnSpc>
              <a:buNone/>
            </a:pPr>
            <a:r>
              <a:rPr lang="en-US" sz="1600" dirty="0">
                <a:solidFill>
                  <a:srgbClr val="7FA6F2"/>
                </a:solidFill>
                <a:latin typeface="Onest SemiBold" pitchFamily="34" charset="0"/>
                <a:ea typeface="Onest SemiBold" pitchFamily="34" charset="-122"/>
                <a:cs typeface="Onest SemiBold" pitchFamily="34" charset="-120"/>
              </a:rPr>
              <a:t>01</a:t>
            </a:r>
            <a:endParaRPr lang="en-US" sz="1600" dirty="0"/>
          </a:p>
        </p:txBody>
      </p:sp>
      <p:sp>
        <p:nvSpPr>
          <p:cNvPr id="5" name="Shape 3"/>
          <p:cNvSpPr/>
          <p:nvPr/>
        </p:nvSpPr>
        <p:spPr>
          <a:xfrm>
            <a:off x="609585" y="2430264"/>
            <a:ext cx="2067369" cy="19050"/>
          </a:xfrm>
          <a:prstGeom prst="rect">
            <a:avLst/>
          </a:prstGeom>
          <a:solidFill>
            <a:srgbClr val="7FA6F2"/>
          </a:solidFill>
          <a:ln/>
        </p:spPr>
      </p:sp>
      <p:sp>
        <p:nvSpPr>
          <p:cNvPr id="6" name="Text 4"/>
          <p:cNvSpPr/>
          <p:nvPr/>
        </p:nvSpPr>
        <p:spPr>
          <a:xfrm>
            <a:off x="609585" y="2571155"/>
            <a:ext cx="2067469" cy="308570"/>
          </a:xfrm>
          <a:prstGeom prst="rect">
            <a:avLst/>
          </a:prstGeom>
          <a:noFill/>
          <a:ln/>
        </p:spPr>
        <p:txBody>
          <a:bodyPr wrap="none" lIns="0" tIns="0" rIns="0" bIns="0" rtlCol="0" anchor="t"/>
          <a:lstStyle/>
          <a:p>
            <a:pPr algn="l" indent="0" marL="0">
              <a:lnSpc>
                <a:spcPct val="113000"/>
              </a:lnSpc>
              <a:buNone/>
            </a:pPr>
            <a:r>
              <a:rPr lang="en-US" sz="1800" dirty="0">
                <a:solidFill>
                  <a:srgbClr val="B4C2EC"/>
                </a:solidFill>
                <a:latin typeface="Onest" pitchFamily="34" charset="0"/>
                <a:ea typeface="Onest" pitchFamily="34" charset="-122"/>
                <a:cs typeface="Onest" pitchFamily="34" charset="-120"/>
              </a:rPr>
              <a:t>Open HeroHub</a:t>
            </a:r>
            <a:endParaRPr lang="en-US" sz="1800" dirty="0"/>
          </a:p>
        </p:txBody>
      </p:sp>
      <p:sp>
        <p:nvSpPr>
          <p:cNvPr id="7" name="Text 5"/>
          <p:cNvSpPr/>
          <p:nvPr/>
        </p:nvSpPr>
        <p:spPr>
          <a:xfrm>
            <a:off x="609585" y="3070225"/>
            <a:ext cx="2067469" cy="630833"/>
          </a:xfrm>
          <a:prstGeom prst="rect">
            <a:avLst/>
          </a:prstGeom>
          <a:noFill/>
          <a:ln/>
        </p:spPr>
        <p:txBody>
          <a:bodyPr wrap="square" lIns="0" tIns="0" rIns="0" bIns="0" rtlCol="0" anchor="t">
            <a:normAutofit/>
          </a:bodyPr>
          <a:lstStyle/>
          <a:p>
            <a:pPr algn="l" indent="0" marL="0">
              <a:lnSpc>
                <a:spcPct val="115000"/>
              </a:lnSpc>
              <a:buNone/>
            </a:pPr>
            <a:r>
              <a:rPr lang="en-US" sz="1800" dirty="0">
                <a:solidFill>
                  <a:srgbClr val="E9EEFF"/>
                </a:solidFill>
                <a:latin typeface="Onest" pitchFamily="34" charset="0"/>
                <a:ea typeface="Onest" pitchFamily="34" charset="-122"/>
                <a:cs typeface="Onest" pitchFamily="34" charset="-120"/>
              </a:rPr>
              <a:t>Review the dashboard.</a:t>
            </a:r>
            <a:endParaRPr lang="en-US" sz="1800" dirty="0"/>
          </a:p>
        </p:txBody>
      </p:sp>
      <p:sp>
        <p:nvSpPr>
          <p:cNvPr id="8" name="Text 6"/>
          <p:cNvSpPr/>
          <p:nvPr/>
        </p:nvSpPr>
        <p:spPr>
          <a:xfrm>
            <a:off x="2829450" y="2145804"/>
            <a:ext cx="855343" cy="203200"/>
          </a:xfrm>
          <a:prstGeom prst="rect">
            <a:avLst/>
          </a:prstGeom>
          <a:noFill/>
          <a:ln/>
        </p:spPr>
        <p:txBody>
          <a:bodyPr wrap="none" lIns="0" tIns="0" rIns="0" bIns="0" rtlCol="0" anchor="t"/>
          <a:lstStyle/>
          <a:p>
            <a:pPr algn="l" indent="0" marL="0">
              <a:lnSpc>
                <a:spcPct val="83000"/>
              </a:lnSpc>
              <a:buNone/>
            </a:pPr>
            <a:r>
              <a:rPr lang="en-US" sz="1600" dirty="0">
                <a:solidFill>
                  <a:srgbClr val="7FA6F2"/>
                </a:solidFill>
                <a:latin typeface="Onest SemiBold" pitchFamily="34" charset="0"/>
                <a:ea typeface="Onest SemiBold" pitchFamily="34" charset="-122"/>
                <a:cs typeface="Onest SemiBold" pitchFamily="34" charset="-120"/>
              </a:rPr>
              <a:t>02</a:t>
            </a:r>
            <a:endParaRPr lang="en-US" sz="1600" dirty="0"/>
          </a:p>
        </p:txBody>
      </p:sp>
      <p:sp>
        <p:nvSpPr>
          <p:cNvPr id="9" name="Shape 7"/>
          <p:cNvSpPr/>
          <p:nvPr/>
        </p:nvSpPr>
        <p:spPr>
          <a:xfrm>
            <a:off x="2829450" y="2430264"/>
            <a:ext cx="2067568" cy="19050"/>
          </a:xfrm>
          <a:prstGeom prst="rect">
            <a:avLst/>
          </a:prstGeom>
          <a:solidFill>
            <a:srgbClr val="7FA6F2"/>
          </a:solidFill>
          <a:ln/>
        </p:spPr>
      </p:sp>
      <p:sp>
        <p:nvSpPr>
          <p:cNvPr id="10" name="Text 8"/>
          <p:cNvSpPr/>
          <p:nvPr/>
        </p:nvSpPr>
        <p:spPr>
          <a:xfrm>
            <a:off x="2829450" y="2571155"/>
            <a:ext cx="2067568" cy="308570"/>
          </a:xfrm>
          <a:prstGeom prst="rect">
            <a:avLst/>
          </a:prstGeom>
          <a:noFill/>
          <a:ln/>
        </p:spPr>
        <p:txBody>
          <a:bodyPr wrap="none" lIns="0" tIns="0" rIns="0" bIns="0" rtlCol="0" anchor="t"/>
          <a:lstStyle/>
          <a:p>
            <a:pPr algn="l" indent="0" marL="0">
              <a:lnSpc>
                <a:spcPct val="113000"/>
              </a:lnSpc>
              <a:buNone/>
            </a:pPr>
            <a:r>
              <a:rPr lang="en-US" sz="1800" dirty="0">
                <a:solidFill>
                  <a:srgbClr val="B4C2EC"/>
                </a:solidFill>
                <a:latin typeface="Onest" pitchFamily="34" charset="0"/>
                <a:ea typeface="Onest" pitchFamily="34" charset="-122"/>
                <a:cs typeface="Onest" pitchFamily="34" charset="-120"/>
              </a:rPr>
              <a:t>Open directory</a:t>
            </a:r>
            <a:endParaRPr lang="en-US" sz="1800" dirty="0"/>
          </a:p>
        </p:txBody>
      </p:sp>
      <p:sp>
        <p:nvSpPr>
          <p:cNvPr id="11" name="Text 9"/>
          <p:cNvSpPr/>
          <p:nvPr/>
        </p:nvSpPr>
        <p:spPr>
          <a:xfrm>
            <a:off x="2829450" y="3070225"/>
            <a:ext cx="2067568" cy="630833"/>
          </a:xfrm>
          <a:prstGeom prst="rect">
            <a:avLst/>
          </a:prstGeom>
          <a:noFill/>
          <a:ln/>
        </p:spPr>
        <p:txBody>
          <a:bodyPr wrap="square" lIns="0" tIns="0" rIns="0" bIns="0" rtlCol="0" anchor="t">
            <a:normAutofit/>
          </a:bodyPr>
          <a:lstStyle/>
          <a:p>
            <a:pPr algn="l" indent="0" marL="0">
              <a:lnSpc>
                <a:spcPct val="115000"/>
              </a:lnSpc>
              <a:buNone/>
            </a:pPr>
            <a:r>
              <a:rPr lang="en-US" sz="1800" dirty="0">
                <a:solidFill>
                  <a:srgbClr val="E9EEFF"/>
                </a:solidFill>
                <a:latin typeface="Onest" pitchFamily="34" charset="0"/>
                <a:ea typeface="Onest" pitchFamily="34" charset="-122"/>
                <a:cs typeface="Onest" pitchFamily="34" charset="-120"/>
              </a:rPr>
              <a:t>See the employee list.</a:t>
            </a:r>
            <a:endParaRPr lang="en-US" sz="1800" dirty="0"/>
          </a:p>
        </p:txBody>
      </p:sp>
      <p:sp>
        <p:nvSpPr>
          <p:cNvPr id="12" name="Text 10"/>
          <p:cNvSpPr/>
          <p:nvPr/>
        </p:nvSpPr>
        <p:spPr>
          <a:xfrm>
            <a:off x="5049414" y="2145804"/>
            <a:ext cx="867646" cy="203200"/>
          </a:xfrm>
          <a:prstGeom prst="rect">
            <a:avLst/>
          </a:prstGeom>
          <a:noFill/>
          <a:ln/>
        </p:spPr>
        <p:txBody>
          <a:bodyPr wrap="none" lIns="0" tIns="0" rIns="0" bIns="0" rtlCol="0" anchor="t"/>
          <a:lstStyle/>
          <a:p>
            <a:pPr algn="l" indent="0" marL="0">
              <a:lnSpc>
                <a:spcPct val="83000"/>
              </a:lnSpc>
              <a:buNone/>
            </a:pPr>
            <a:r>
              <a:rPr lang="en-US" sz="1600" dirty="0">
                <a:solidFill>
                  <a:srgbClr val="7FA6F2"/>
                </a:solidFill>
                <a:latin typeface="Onest SemiBold" pitchFamily="34" charset="0"/>
                <a:ea typeface="Onest SemiBold" pitchFamily="34" charset="-122"/>
                <a:cs typeface="Onest SemiBold" pitchFamily="34" charset="-120"/>
              </a:rPr>
              <a:t>03</a:t>
            </a:r>
            <a:endParaRPr lang="en-US" sz="1600" dirty="0"/>
          </a:p>
        </p:txBody>
      </p:sp>
      <p:sp>
        <p:nvSpPr>
          <p:cNvPr id="13" name="Shape 11"/>
          <p:cNvSpPr/>
          <p:nvPr/>
        </p:nvSpPr>
        <p:spPr>
          <a:xfrm>
            <a:off x="5049414" y="2430264"/>
            <a:ext cx="2067369" cy="19050"/>
          </a:xfrm>
          <a:prstGeom prst="rect">
            <a:avLst/>
          </a:prstGeom>
          <a:solidFill>
            <a:srgbClr val="7FA6F2"/>
          </a:solidFill>
          <a:ln/>
        </p:spPr>
      </p:sp>
      <p:sp>
        <p:nvSpPr>
          <p:cNvPr id="14" name="Text 12"/>
          <p:cNvSpPr/>
          <p:nvPr/>
        </p:nvSpPr>
        <p:spPr>
          <a:xfrm>
            <a:off x="5049414" y="2571155"/>
            <a:ext cx="2067469" cy="308570"/>
          </a:xfrm>
          <a:prstGeom prst="rect">
            <a:avLst/>
          </a:prstGeom>
          <a:noFill/>
          <a:ln/>
        </p:spPr>
        <p:txBody>
          <a:bodyPr wrap="none" lIns="0" tIns="0" rIns="0" bIns="0" rtlCol="0" anchor="t"/>
          <a:lstStyle/>
          <a:p>
            <a:pPr algn="l" indent="0" marL="0">
              <a:lnSpc>
                <a:spcPct val="113000"/>
              </a:lnSpc>
              <a:buNone/>
            </a:pPr>
            <a:r>
              <a:rPr lang="en-US" sz="1800" dirty="0">
                <a:solidFill>
                  <a:srgbClr val="B4C2EC"/>
                </a:solidFill>
                <a:latin typeface="Onest" pitchFamily="34" charset="0"/>
                <a:ea typeface="Onest" pitchFamily="34" charset="-122"/>
                <a:cs typeface="Onest" pitchFamily="34" charset="-120"/>
              </a:rPr>
              <a:t>Search</a:t>
            </a:r>
            <a:endParaRPr lang="en-US" sz="1800" dirty="0"/>
          </a:p>
        </p:txBody>
      </p:sp>
      <p:sp>
        <p:nvSpPr>
          <p:cNvPr id="15" name="Text 13"/>
          <p:cNvSpPr/>
          <p:nvPr/>
        </p:nvSpPr>
        <p:spPr>
          <a:xfrm>
            <a:off x="5049414" y="3070225"/>
            <a:ext cx="2067469" cy="946249"/>
          </a:xfrm>
          <a:prstGeom prst="rect">
            <a:avLst/>
          </a:prstGeom>
          <a:noFill/>
          <a:ln/>
        </p:spPr>
        <p:txBody>
          <a:bodyPr wrap="square" lIns="0" tIns="0" rIns="0" bIns="0" rtlCol="0" anchor="t">
            <a:normAutofit/>
          </a:bodyPr>
          <a:lstStyle/>
          <a:p>
            <a:pPr algn="l" indent="0" marL="0">
              <a:lnSpc>
                <a:spcPct val="115000"/>
              </a:lnSpc>
              <a:buNone/>
            </a:pPr>
            <a:r>
              <a:rPr lang="en-US" sz="1800" dirty="0">
                <a:solidFill>
                  <a:srgbClr val="E9EEFF"/>
                </a:solidFill>
                <a:latin typeface="Onest" pitchFamily="34" charset="0"/>
                <a:ea typeface="Onest" pitchFamily="34" charset="-122"/>
                <a:cs typeface="Onest" pitchFamily="34" charset="-120"/>
              </a:rPr>
              <a:t>Use Employee ID, name, department, or designation.</a:t>
            </a:r>
            <a:endParaRPr lang="en-US" sz="1800" dirty="0"/>
          </a:p>
        </p:txBody>
      </p:sp>
      <p:sp>
        <p:nvSpPr>
          <p:cNvPr id="16" name="Text 14"/>
          <p:cNvSpPr/>
          <p:nvPr/>
        </p:nvSpPr>
        <p:spPr>
          <a:xfrm>
            <a:off x="609585" y="4273252"/>
            <a:ext cx="873202" cy="203200"/>
          </a:xfrm>
          <a:prstGeom prst="rect">
            <a:avLst/>
          </a:prstGeom>
          <a:noFill/>
          <a:ln/>
        </p:spPr>
        <p:txBody>
          <a:bodyPr wrap="none" lIns="0" tIns="0" rIns="0" bIns="0" rtlCol="0" anchor="t"/>
          <a:lstStyle/>
          <a:p>
            <a:pPr algn="l" indent="0" marL="0">
              <a:lnSpc>
                <a:spcPct val="83000"/>
              </a:lnSpc>
              <a:buNone/>
            </a:pPr>
            <a:r>
              <a:rPr lang="en-US" sz="1600" dirty="0">
                <a:solidFill>
                  <a:srgbClr val="7FA6F2"/>
                </a:solidFill>
                <a:latin typeface="Onest SemiBold" pitchFamily="34" charset="0"/>
                <a:ea typeface="Onest SemiBold" pitchFamily="34" charset="-122"/>
                <a:cs typeface="Onest SemiBold" pitchFamily="34" charset="-120"/>
              </a:rPr>
              <a:t>04</a:t>
            </a:r>
            <a:endParaRPr lang="en-US" sz="1600" dirty="0"/>
          </a:p>
        </p:txBody>
      </p:sp>
      <p:sp>
        <p:nvSpPr>
          <p:cNvPr id="17" name="Shape 15"/>
          <p:cNvSpPr/>
          <p:nvPr/>
        </p:nvSpPr>
        <p:spPr>
          <a:xfrm>
            <a:off x="609585" y="4557713"/>
            <a:ext cx="3177401" cy="19050"/>
          </a:xfrm>
          <a:prstGeom prst="rect">
            <a:avLst/>
          </a:prstGeom>
          <a:solidFill>
            <a:srgbClr val="7FA6F2"/>
          </a:solidFill>
          <a:ln/>
        </p:spPr>
      </p:sp>
      <p:sp>
        <p:nvSpPr>
          <p:cNvPr id="18" name="Text 16"/>
          <p:cNvSpPr/>
          <p:nvPr/>
        </p:nvSpPr>
        <p:spPr>
          <a:xfrm>
            <a:off x="609585" y="4698603"/>
            <a:ext cx="3177401" cy="308570"/>
          </a:xfrm>
          <a:prstGeom prst="rect">
            <a:avLst/>
          </a:prstGeom>
          <a:noFill/>
          <a:ln/>
        </p:spPr>
        <p:txBody>
          <a:bodyPr wrap="none" lIns="0" tIns="0" rIns="0" bIns="0" rtlCol="0" anchor="t"/>
          <a:lstStyle/>
          <a:p>
            <a:pPr algn="l" indent="0" marL="0">
              <a:lnSpc>
                <a:spcPct val="113000"/>
              </a:lnSpc>
              <a:buNone/>
            </a:pPr>
            <a:r>
              <a:rPr lang="en-US" sz="1800" dirty="0">
                <a:solidFill>
                  <a:srgbClr val="B4C2EC"/>
                </a:solidFill>
                <a:latin typeface="Onest" pitchFamily="34" charset="0"/>
                <a:ea typeface="Onest" pitchFamily="34" charset="-122"/>
                <a:cs typeface="Onest" pitchFamily="34" charset="-120"/>
              </a:rPr>
              <a:t>View or edit</a:t>
            </a:r>
            <a:endParaRPr lang="en-US" sz="1800" dirty="0"/>
          </a:p>
        </p:txBody>
      </p:sp>
      <p:sp>
        <p:nvSpPr>
          <p:cNvPr id="19" name="Text 17"/>
          <p:cNvSpPr/>
          <p:nvPr/>
        </p:nvSpPr>
        <p:spPr>
          <a:xfrm>
            <a:off x="609585" y="5197673"/>
            <a:ext cx="3177401" cy="630833"/>
          </a:xfrm>
          <a:prstGeom prst="rect">
            <a:avLst/>
          </a:prstGeom>
          <a:noFill/>
          <a:ln/>
        </p:spPr>
        <p:txBody>
          <a:bodyPr wrap="square" lIns="0" tIns="0" rIns="0" bIns="0" rtlCol="0" anchor="t">
            <a:normAutofit/>
          </a:bodyPr>
          <a:lstStyle/>
          <a:p>
            <a:pPr algn="l" indent="0" marL="0">
              <a:lnSpc>
                <a:spcPct val="115000"/>
              </a:lnSpc>
              <a:buNone/>
            </a:pPr>
            <a:r>
              <a:rPr lang="en-US" sz="1800" dirty="0">
                <a:solidFill>
                  <a:srgbClr val="E9EEFF"/>
                </a:solidFill>
                <a:latin typeface="Onest" pitchFamily="34" charset="0"/>
                <a:ea typeface="Onest" pitchFamily="34" charset="-122"/>
                <a:cs typeface="Onest" pitchFamily="34" charset="-120"/>
              </a:rPr>
              <a:t>Open a profile or the add/edit form.</a:t>
            </a:r>
            <a:endParaRPr lang="en-US" sz="1800" dirty="0"/>
          </a:p>
        </p:txBody>
      </p:sp>
      <p:sp>
        <p:nvSpPr>
          <p:cNvPr id="20" name="Text 18"/>
          <p:cNvSpPr/>
          <p:nvPr/>
        </p:nvSpPr>
        <p:spPr>
          <a:xfrm>
            <a:off x="3939382" y="4273252"/>
            <a:ext cx="869135" cy="203200"/>
          </a:xfrm>
          <a:prstGeom prst="rect">
            <a:avLst/>
          </a:prstGeom>
          <a:noFill/>
          <a:ln/>
        </p:spPr>
        <p:txBody>
          <a:bodyPr wrap="none" lIns="0" tIns="0" rIns="0" bIns="0" rtlCol="0" anchor="t"/>
          <a:lstStyle/>
          <a:p>
            <a:pPr algn="l" indent="0" marL="0">
              <a:lnSpc>
                <a:spcPct val="83000"/>
              </a:lnSpc>
              <a:buNone/>
            </a:pPr>
            <a:r>
              <a:rPr lang="en-US" sz="1600" dirty="0">
                <a:solidFill>
                  <a:srgbClr val="7FA6F2"/>
                </a:solidFill>
                <a:latin typeface="Onest SemiBold" pitchFamily="34" charset="0"/>
                <a:ea typeface="Onest SemiBold" pitchFamily="34" charset="-122"/>
                <a:cs typeface="Onest SemiBold" pitchFamily="34" charset="-120"/>
              </a:rPr>
              <a:t>05</a:t>
            </a:r>
            <a:endParaRPr lang="en-US" sz="1600" dirty="0"/>
          </a:p>
        </p:txBody>
      </p:sp>
      <p:sp>
        <p:nvSpPr>
          <p:cNvPr id="21" name="Shape 19"/>
          <p:cNvSpPr/>
          <p:nvPr/>
        </p:nvSpPr>
        <p:spPr>
          <a:xfrm>
            <a:off x="3939382" y="4557713"/>
            <a:ext cx="3177401" cy="19050"/>
          </a:xfrm>
          <a:prstGeom prst="rect">
            <a:avLst/>
          </a:prstGeom>
          <a:solidFill>
            <a:srgbClr val="7FA6F2"/>
          </a:solidFill>
          <a:ln/>
        </p:spPr>
      </p:sp>
      <p:sp>
        <p:nvSpPr>
          <p:cNvPr id="22" name="Text 20"/>
          <p:cNvSpPr/>
          <p:nvPr/>
        </p:nvSpPr>
        <p:spPr>
          <a:xfrm>
            <a:off x="3939382" y="4698603"/>
            <a:ext cx="3177500" cy="308570"/>
          </a:xfrm>
          <a:prstGeom prst="rect">
            <a:avLst/>
          </a:prstGeom>
          <a:noFill/>
          <a:ln/>
        </p:spPr>
        <p:txBody>
          <a:bodyPr wrap="none" lIns="0" tIns="0" rIns="0" bIns="0" rtlCol="0" anchor="t"/>
          <a:lstStyle/>
          <a:p>
            <a:pPr algn="l" indent="0" marL="0">
              <a:lnSpc>
                <a:spcPct val="113000"/>
              </a:lnSpc>
              <a:buNone/>
            </a:pPr>
            <a:r>
              <a:rPr lang="en-US" sz="1800" dirty="0">
                <a:solidFill>
                  <a:srgbClr val="B4C2EC"/>
                </a:solidFill>
                <a:latin typeface="Onest" pitchFamily="34" charset="0"/>
                <a:ea typeface="Onest" pitchFamily="34" charset="-122"/>
                <a:cs typeface="Onest" pitchFamily="34" charset="-120"/>
              </a:rPr>
              <a:t>Submit request</a:t>
            </a:r>
            <a:endParaRPr lang="en-US" sz="1800" dirty="0"/>
          </a:p>
        </p:txBody>
      </p:sp>
      <p:sp>
        <p:nvSpPr>
          <p:cNvPr id="23" name="Text 21"/>
          <p:cNvSpPr/>
          <p:nvPr/>
        </p:nvSpPr>
        <p:spPr>
          <a:xfrm>
            <a:off x="3939382" y="5197673"/>
            <a:ext cx="3177500" cy="315416"/>
          </a:xfrm>
          <a:prstGeom prst="rect">
            <a:avLst/>
          </a:prstGeom>
          <a:noFill/>
          <a:ln/>
        </p:spPr>
        <p:txBody>
          <a:bodyPr wrap="none" lIns="0" tIns="0" rIns="0" bIns="0" rtlCol="0" anchor="t"/>
          <a:lstStyle/>
          <a:p>
            <a:pPr algn="l" indent="0" marL="0">
              <a:lnSpc>
                <a:spcPct val="115000"/>
              </a:lnSpc>
              <a:buNone/>
            </a:pPr>
            <a:r>
              <a:rPr lang="en-US" sz="1800" dirty="0">
                <a:solidFill>
                  <a:srgbClr val="E9EEFF"/>
                </a:solidFill>
                <a:latin typeface="Onest" pitchFamily="34" charset="0"/>
                <a:ea typeface="Onest" pitchFamily="34" charset="-122"/>
                <a:cs typeface="Onest" pitchFamily="34" charset="-120"/>
              </a:rPr>
              <a:t>See the updated information.</a:t>
            </a:r>
            <a:endParaRPr lang="en-US" sz="1800" dirty="0"/>
          </a:p>
        </p:txBody>
      </p:sp>
      <p:sp>
        <p:nvSpPr>
          <p:cNvPr id="24" name="Shape 22"/>
          <p:cNvSpPr/>
          <p:nvPr/>
        </p:nvSpPr>
        <p:spPr>
          <a:xfrm>
            <a:off x="8031259" y="0"/>
            <a:ext cx="4160436" cy="6858000"/>
          </a:xfrm>
          <a:prstGeom prst="roundRect">
            <a:avLst>
              <a:gd name="adj" fmla="val 2930"/>
            </a:avLst>
          </a:prstGeom>
          <a:solidFill>
            <a:srgbClr val="152060"/>
          </a:solidFill>
          <a:ln w="6350">
            <a:solidFill>
              <a:srgbClr val="2B3A80"/>
            </a:solidFill>
            <a:prstDash val="solid"/>
          </a:ln>
        </p:spPr>
      </p:sp>
      <p:sp>
        <p:nvSpPr>
          <p:cNvPr id="25" name="Text 23"/>
          <p:cNvSpPr/>
          <p:nvPr/>
        </p:nvSpPr>
        <p:spPr>
          <a:xfrm>
            <a:off x="8647194" y="1236464"/>
            <a:ext cx="2928567" cy="1131391"/>
          </a:xfrm>
          <a:prstGeom prst="rect">
            <a:avLst/>
          </a:prstGeom>
          <a:noFill/>
          <a:ln/>
        </p:spPr>
        <p:txBody>
          <a:bodyPr wrap="square" lIns="0" tIns="0" rIns="0" bIns="0" rtlCol="0" anchor="t">
            <a:normAutofit/>
          </a:bodyPr>
          <a:lstStyle/>
          <a:p>
            <a:pPr algn="l" indent="0" marL="0">
              <a:lnSpc>
                <a:spcPct val="113000"/>
              </a:lnSpc>
              <a:buNone/>
            </a:pPr>
            <a:r>
              <a:rPr lang="en-US" sz="2200" dirty="0">
                <a:solidFill>
                  <a:srgbClr val="E9EEFF"/>
                </a:solidFill>
                <a:latin typeface="Onest" pitchFamily="34" charset="0"/>
                <a:ea typeface="Onest" pitchFamily="34" charset="-122"/>
                <a:cs typeface="Onest" pitchFamily="34" charset="-120"/>
              </a:rPr>
              <a:t>Object-oriented design supports the journey</a:t>
            </a:r>
            <a:endParaRPr lang="en-US" sz="2200" dirty="0"/>
          </a:p>
        </p:txBody>
      </p:sp>
      <p:sp>
        <p:nvSpPr>
          <p:cNvPr id="26" name="Shape 24"/>
          <p:cNvSpPr/>
          <p:nvPr/>
        </p:nvSpPr>
        <p:spPr>
          <a:xfrm>
            <a:off x="8647194" y="2607568"/>
            <a:ext cx="966267" cy="31651"/>
          </a:xfrm>
          <a:prstGeom prst="roundRect">
            <a:avLst>
              <a:gd name="adj" fmla="val 49998"/>
            </a:avLst>
          </a:prstGeom>
          <a:solidFill>
            <a:srgbClr val="7FA6F2"/>
          </a:solidFill>
          <a:ln/>
        </p:spPr>
      </p:sp>
      <p:sp>
        <p:nvSpPr>
          <p:cNvPr id="27" name="Text 25"/>
          <p:cNvSpPr/>
          <p:nvPr/>
        </p:nvSpPr>
        <p:spPr>
          <a:xfrm>
            <a:off x="8647194" y="3025080"/>
            <a:ext cx="2928567" cy="308570"/>
          </a:xfrm>
          <a:prstGeom prst="rect">
            <a:avLst/>
          </a:prstGeom>
          <a:noFill/>
          <a:ln/>
        </p:spPr>
        <p:txBody>
          <a:bodyPr wrap="none" lIns="0" tIns="0" rIns="0" bIns="0" rtlCol="0" anchor="t"/>
          <a:lstStyle/>
          <a:p>
            <a:pPr algn="l" indent="0" marL="0">
              <a:lnSpc>
                <a:spcPct val="113000"/>
              </a:lnSpc>
              <a:buNone/>
            </a:pPr>
            <a:r>
              <a:rPr lang="en-US" sz="1800" dirty="0">
                <a:solidFill>
                  <a:srgbClr val="E9EEFF"/>
                </a:solidFill>
                <a:latin typeface="Onest" pitchFamily="34" charset="0"/>
                <a:ea typeface="Onest" pitchFamily="34" charset="-122"/>
                <a:cs typeface="Onest" pitchFamily="34" charset="-120"/>
              </a:rPr>
              <a:t>Encapsulation</a:t>
            </a:r>
            <a:endParaRPr lang="en-US" sz="1800" dirty="0"/>
          </a:p>
        </p:txBody>
      </p:sp>
      <p:sp>
        <p:nvSpPr>
          <p:cNvPr id="28" name="Text 26"/>
          <p:cNvSpPr/>
          <p:nvPr/>
        </p:nvSpPr>
        <p:spPr>
          <a:xfrm>
            <a:off x="8647194" y="3524151"/>
            <a:ext cx="2928567" cy="630833"/>
          </a:xfrm>
          <a:prstGeom prst="rect">
            <a:avLst/>
          </a:prstGeom>
          <a:noFill/>
          <a:ln/>
        </p:spPr>
        <p:txBody>
          <a:bodyPr wrap="square" lIns="0" tIns="0" rIns="0" bIns="0" rtlCol="0" anchor="t">
            <a:normAutofit/>
          </a:bodyPr>
          <a:lstStyle/>
          <a:p>
            <a:pPr algn="l" indent="0" marL="0">
              <a:lnSpc>
                <a:spcPct val="115000"/>
              </a:lnSpc>
              <a:buNone/>
            </a:pPr>
            <a:r>
              <a:rPr lang="en-US" sz="1800" dirty="0">
                <a:solidFill>
                  <a:srgbClr val="E9EEFF"/>
                </a:solidFill>
                <a:latin typeface="Onest" pitchFamily="34" charset="0"/>
                <a:ea typeface="Onest" pitchFamily="34" charset="-122"/>
                <a:cs typeface="Onest" pitchFamily="34" charset="-120"/>
              </a:rPr>
              <a:t>Person keeps fields private and exposes methods.</a:t>
            </a:r>
            <a:endParaRPr lang="en-US" sz="1800" dirty="0"/>
          </a:p>
        </p:txBody>
      </p:sp>
      <p:sp>
        <p:nvSpPr>
          <p:cNvPr id="29" name="Text 27"/>
          <p:cNvSpPr/>
          <p:nvPr/>
        </p:nvSpPr>
        <p:spPr>
          <a:xfrm>
            <a:off x="8647194" y="4491534"/>
            <a:ext cx="2928567" cy="308570"/>
          </a:xfrm>
          <a:prstGeom prst="rect">
            <a:avLst/>
          </a:prstGeom>
          <a:noFill/>
          <a:ln/>
        </p:spPr>
        <p:txBody>
          <a:bodyPr wrap="none" lIns="0" tIns="0" rIns="0" bIns="0" rtlCol="0" anchor="t"/>
          <a:lstStyle/>
          <a:p>
            <a:pPr algn="l" indent="0" marL="0">
              <a:lnSpc>
                <a:spcPct val="113000"/>
              </a:lnSpc>
              <a:buNone/>
            </a:pPr>
            <a:r>
              <a:rPr lang="en-US" sz="1800" dirty="0">
                <a:solidFill>
                  <a:srgbClr val="E9EEFF"/>
                </a:solidFill>
                <a:latin typeface="Onest" pitchFamily="34" charset="0"/>
                <a:ea typeface="Onest" pitchFamily="34" charset="-122"/>
                <a:cs typeface="Onest" pitchFamily="34" charset="-120"/>
              </a:rPr>
              <a:t>Inheritance</a:t>
            </a:r>
            <a:endParaRPr lang="en-US" sz="1800" dirty="0"/>
          </a:p>
        </p:txBody>
      </p:sp>
      <p:sp>
        <p:nvSpPr>
          <p:cNvPr id="30" name="Text 28"/>
          <p:cNvSpPr/>
          <p:nvPr/>
        </p:nvSpPr>
        <p:spPr>
          <a:xfrm>
            <a:off x="8647194" y="4990604"/>
            <a:ext cx="2928567" cy="630833"/>
          </a:xfrm>
          <a:prstGeom prst="rect">
            <a:avLst/>
          </a:prstGeom>
          <a:noFill/>
          <a:ln/>
        </p:spPr>
        <p:txBody>
          <a:bodyPr wrap="square" lIns="0" tIns="0" rIns="0" bIns="0" rtlCol="0" anchor="t">
            <a:normAutofit/>
          </a:bodyPr>
          <a:lstStyle/>
          <a:p>
            <a:pPr algn="l" indent="0" marL="0">
              <a:lnSpc>
                <a:spcPct val="115000"/>
              </a:lnSpc>
              <a:buNone/>
            </a:pPr>
            <a:r>
              <a:rPr lang="en-US" sz="1800" dirty="0">
                <a:solidFill>
                  <a:srgbClr val="E9EEFF"/>
                </a:solidFill>
                <a:latin typeface="Onest" pitchFamily="34" charset="0"/>
                <a:ea typeface="Onest" pitchFamily="34" charset="-122"/>
                <a:cs typeface="Onest" pitchFamily="34" charset="-120"/>
              </a:rPr>
              <a:t>Employee reuses Person and adds its own fields.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23882" y="657999"/>
            <a:ext cx="3616731" cy="194965"/>
          </a:xfrm>
          <a:prstGeom prst="rect">
            <a:avLst/>
          </a:prstGeom>
          <a:noFill/>
          <a:ln/>
        </p:spPr>
        <p:txBody>
          <a:bodyPr wrap="none" lIns="0" tIns="0" rIns="0" bIns="0" rtlCol="0" anchor="t"/>
          <a:lstStyle/>
          <a:p>
            <a:pPr algn="l" indent="0" marL="0">
              <a:lnSpc>
                <a:spcPct val="100000"/>
              </a:lnSpc>
              <a:buNone/>
            </a:pPr>
            <a:r>
              <a:rPr lang="en-US" sz="1300" spc="128" kern="100" dirty="0">
                <a:solidFill>
                  <a:srgbClr val="E9EEFF"/>
                </a:solidFill>
                <a:latin typeface="Onest SemiBold" pitchFamily="34" charset="0"/>
                <a:ea typeface="Onest SemiBold" pitchFamily="34" charset="-122"/>
                <a:cs typeface="Onest SemiBold" pitchFamily="34" charset="-120"/>
              </a:rPr>
              <a:t>07 · TECHNOLOGY TO OUTCOME</a:t>
            </a:r>
            <a:endParaRPr lang="en-US" sz="1300" dirty="0"/>
          </a:p>
        </p:txBody>
      </p:sp>
      <p:sp>
        <p:nvSpPr>
          <p:cNvPr id="3" name="Text 1"/>
          <p:cNvSpPr/>
          <p:nvPr/>
        </p:nvSpPr>
        <p:spPr>
          <a:xfrm>
            <a:off x="609585" y="1051525"/>
            <a:ext cx="10972526" cy="880864"/>
          </a:xfrm>
          <a:prstGeom prst="rect">
            <a:avLst/>
          </a:prstGeom>
          <a:noFill/>
          <a:ln/>
        </p:spPr>
        <p:txBody>
          <a:bodyPr wrap="square" lIns="0" tIns="0" rIns="0" bIns="0" rtlCol="0" anchor="t">
            <a:normAutofit/>
          </a:bodyPr>
          <a:lstStyle/>
          <a:p>
            <a:pPr algn="l" indent="0" marL="0">
              <a:lnSpc>
                <a:spcPct val="85000"/>
              </a:lnSpc>
              <a:buNone/>
            </a:pPr>
            <a:r>
              <a:rPr lang="en-US" sz="3400" b="1" spc="-85" kern="100" dirty="0">
                <a:solidFill>
                  <a:srgbClr val="FFFFFF"/>
                </a:solidFill>
                <a:latin typeface="Familjen Grotesk Bold" pitchFamily="34" charset="0"/>
                <a:ea typeface="Familjen Grotesk Bold" pitchFamily="34" charset="-122"/>
                <a:cs typeface="Familjen Grotesk Bold" pitchFamily="34" charset="-120"/>
              </a:rPr>
              <a:t>The project connected a modern Java stack to practical outcomes</a:t>
            </a:r>
            <a:endParaRPr lang="en-US" sz="3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09585" y="2142629"/>
          <a:ext cx="5333867" cy="914400"/>
        </p:xfrm>
        <a:graphic>
          <a:graphicData uri="http://schemas.openxmlformats.org/drawingml/2006/table">
            <a:tbl>
              <a:tblPr/>
              <a:tblGrid>
                <a:gridCol w="1333467"/>
                <a:gridCol w="4000400"/>
              </a:tblGrid>
              <a:tr h="455601">
                <a:tc>
                  <a:txBody>
                    <a:bodyPr/>
                    <a:lstStyle/>
                    <a:p>
                      <a:pPr algn="l" indent="0" marL="0">
                        <a:buNone/>
                      </a:pPr>
                      <a:r>
                        <a:rPr lang="en-US" sz="1600" b="1" dirty="0">
                          <a:solidFill>
                            <a:srgbClr val="E9EEFF"/>
                          </a:solidFill>
                          <a:latin typeface="Onest" pitchFamily="34" charset="0"/>
                          <a:ea typeface="Onest" pitchFamily="34" charset="-122"/>
                          <a:cs typeface="Onest" pitchFamily="34" charset="-120"/>
                        </a:rPr>
                        <a:t>Backend</a:t>
                      </a:r>
                      <a:endParaRPr lang="en-US" sz="1600" dirty="0">
                        <a:latin typeface="Onest" charset="0"/>
                        <a:ea typeface="Onest" charset="0"/>
                        <a:cs typeface="Onest" charset="0"/>
                      </a:endParaRPr>
                    </a:p>
                  </a:txBody>
                  <a:tcPr marL="152396" marR="152396" marT="81278" marB="81278"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0D174F"/>
                      </a:solidFill>
                      <a:prstDash val="solid"/>
                      <a:round/>
                      <a:headEnd type="none" w="med" len="med"/>
                      <a:tailEnd type="none" w="med" len="med"/>
                    </a:lnT>
                    <a:lnB w="12700" cap="flat" cmpd="sng" algn="ctr">
                      <a:solidFill>
                        <a:srgbClr val="3A4C9A"/>
                      </a:solidFill>
                      <a:prstDash val="solid"/>
                      <a:round/>
                      <a:headEnd type="none" w="med" len="med"/>
                      <a:tailEnd type="none" w="med" len="med"/>
                    </a:lnB>
                  </a:tcPr>
                </a:tc>
                <a:tc>
                  <a:txBody>
                    <a:bodyPr/>
                    <a:lstStyle/>
                    <a:p>
                      <a:pPr algn="l" indent="0" marL="0">
                        <a:buNone/>
                      </a:pPr>
                      <a:r>
                        <a:rPr lang="en-US" sz="1600" dirty="0">
                          <a:solidFill>
                            <a:srgbClr val="E9EEFF"/>
                          </a:solidFill>
                          <a:latin typeface="Onest" pitchFamily="34" charset="0"/>
                          <a:ea typeface="Onest" pitchFamily="34" charset="-122"/>
                          <a:cs typeface="Onest" pitchFamily="34" charset="-120"/>
                        </a:rPr>
                        <a:t>Java 17 · Spring Boot 3 · Spring MVC</a:t>
                      </a:r>
                      <a:endParaRPr lang="en-US" sz="1600" dirty="0">
                        <a:latin typeface="Onest" charset="0"/>
                        <a:ea typeface="Onest" charset="0"/>
                        <a:cs typeface="Onest" charset="0"/>
                      </a:endParaRPr>
                    </a:p>
                  </a:txBody>
                  <a:tcPr marL="152396" marR="152396" marT="81278" marB="81278"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0D174F"/>
                      </a:solidFill>
                      <a:prstDash val="solid"/>
                      <a:round/>
                      <a:headEnd type="none" w="med" len="med"/>
                      <a:tailEnd type="none" w="med" len="med"/>
                    </a:lnT>
                    <a:lnB w="12700" cap="flat" cmpd="sng" algn="ctr">
                      <a:solidFill>
                        <a:srgbClr val="3A4C9A"/>
                      </a:solidFill>
                      <a:prstDash val="solid"/>
                      <a:round/>
                      <a:headEnd type="none" w="med" len="med"/>
                      <a:tailEnd type="none" w="med" len="med"/>
                    </a:lnB>
                  </a:tcPr>
                </a:tc>
              </a:tr>
              <a:tr h="735986">
                <a:tc>
                  <a:txBody>
                    <a:bodyPr/>
                    <a:lstStyle/>
                    <a:p>
                      <a:pPr algn="l" indent="0" marL="0">
                        <a:buNone/>
                      </a:pPr>
                      <a:r>
                        <a:rPr lang="en-US" sz="1600" b="1" dirty="0">
                          <a:solidFill>
                            <a:srgbClr val="E9EEFF"/>
                          </a:solidFill>
                          <a:latin typeface="Onest" pitchFamily="34" charset="0"/>
                          <a:ea typeface="Onest" pitchFamily="34" charset="-122"/>
                          <a:cs typeface="Onest" pitchFamily="34" charset="-120"/>
                        </a:rPr>
                        <a:t>Frontend</a:t>
                      </a:r>
                      <a:endParaRPr lang="en-US" sz="1600" dirty="0">
                        <a:latin typeface="Onest" charset="0"/>
                        <a:ea typeface="Onest" charset="0"/>
                        <a:cs typeface="Onest" charset="0"/>
                      </a:endParaRPr>
                    </a:p>
                  </a:txBody>
                  <a:tcPr marL="152396" marR="152396" marT="81278" marB="81278"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3A4C9A"/>
                      </a:solidFill>
                      <a:prstDash val="solid"/>
                      <a:round/>
                      <a:headEnd type="none" w="med" len="med"/>
                      <a:tailEnd type="none" w="med" len="med"/>
                    </a:lnT>
                    <a:lnB w="12700" cap="flat" cmpd="sng" algn="ctr">
                      <a:solidFill>
                        <a:srgbClr val="3A4C9A"/>
                      </a:solidFill>
                      <a:prstDash val="solid"/>
                      <a:round/>
                      <a:headEnd type="none" w="med" len="med"/>
                      <a:tailEnd type="none" w="med" len="med"/>
                    </a:lnB>
                  </a:tcPr>
                </a:tc>
                <a:tc>
                  <a:txBody>
                    <a:bodyPr/>
                    <a:lstStyle/>
                    <a:p>
                      <a:pPr algn="l" indent="0" marL="0">
                        <a:buNone/>
                      </a:pPr>
                      <a:r>
                        <a:rPr lang="en-US" sz="1600" dirty="0">
                          <a:solidFill>
                            <a:srgbClr val="E9EEFF"/>
                          </a:solidFill>
                          <a:latin typeface="Onest" pitchFamily="34" charset="0"/>
                          <a:ea typeface="Onest" pitchFamily="34" charset="-122"/>
                          <a:cs typeface="Onest" pitchFamily="34" charset="-120"/>
                        </a:rPr>
                        <a:t>HTML5 · CSS3 · JavaScript · Thymeleaf · Bootstrap 5</a:t>
                      </a:r>
                      <a:endParaRPr lang="en-US" sz="1600" dirty="0">
                        <a:latin typeface="Onest" charset="0"/>
                        <a:ea typeface="Onest" charset="0"/>
                        <a:cs typeface="Onest" charset="0"/>
                      </a:endParaRPr>
                    </a:p>
                  </a:txBody>
                  <a:tcPr marL="152396" marR="152396" marT="81278" marB="81278"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3A4C9A"/>
                      </a:solidFill>
                      <a:prstDash val="solid"/>
                      <a:round/>
                      <a:headEnd type="none" w="med" len="med"/>
                      <a:tailEnd type="none" w="med" len="med"/>
                    </a:lnT>
                    <a:lnB w="12700" cap="flat" cmpd="sng" algn="ctr">
                      <a:solidFill>
                        <a:srgbClr val="3A4C9A"/>
                      </a:solidFill>
                      <a:prstDash val="solid"/>
                      <a:round/>
                      <a:headEnd type="none" w="med" len="med"/>
                      <a:tailEnd type="none" w="med" len="med"/>
                    </a:lnB>
                  </a:tcPr>
                </a:tc>
              </a:tr>
              <a:tr h="735986">
                <a:tc>
                  <a:txBody>
                    <a:bodyPr/>
                    <a:lstStyle/>
                    <a:p>
                      <a:pPr algn="l" indent="0" marL="0">
                        <a:buNone/>
                      </a:pPr>
                      <a:r>
                        <a:rPr lang="en-US" sz="1600" b="1" dirty="0">
                          <a:solidFill>
                            <a:srgbClr val="E9EEFF"/>
                          </a:solidFill>
                          <a:latin typeface="Onest" pitchFamily="34" charset="0"/>
                          <a:ea typeface="Onest" pitchFamily="34" charset="-122"/>
                          <a:cs typeface="Onest" pitchFamily="34" charset="-120"/>
                        </a:rPr>
                        <a:t>Data</a:t>
                      </a:r>
                      <a:endParaRPr lang="en-US" sz="1600" dirty="0">
                        <a:latin typeface="Onest" charset="0"/>
                        <a:ea typeface="Onest" charset="0"/>
                        <a:cs typeface="Onest" charset="0"/>
                      </a:endParaRPr>
                    </a:p>
                  </a:txBody>
                  <a:tcPr marL="152396" marR="152396" marT="81278" marB="81278"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3A4C9A"/>
                      </a:solidFill>
                      <a:prstDash val="solid"/>
                      <a:round/>
                      <a:headEnd type="none" w="med" len="med"/>
                      <a:tailEnd type="none" w="med" len="med"/>
                    </a:lnT>
                    <a:lnB w="12700" cap="flat" cmpd="sng" algn="ctr">
                      <a:solidFill>
                        <a:srgbClr val="3A4C9A"/>
                      </a:solidFill>
                      <a:prstDash val="solid"/>
                      <a:round/>
                      <a:headEnd type="none" w="med" len="med"/>
                      <a:tailEnd type="none" w="med" len="med"/>
                    </a:lnB>
                  </a:tcPr>
                </a:tc>
                <a:tc>
                  <a:txBody>
                    <a:bodyPr/>
                    <a:lstStyle/>
                    <a:p>
                      <a:pPr algn="l" indent="0" marL="0">
                        <a:buNone/>
                      </a:pPr>
                      <a:r>
                        <a:rPr lang="en-US" sz="1600" dirty="0">
                          <a:solidFill>
                            <a:srgbClr val="E9EEFF"/>
                          </a:solidFill>
                          <a:latin typeface="Onest" pitchFamily="34" charset="0"/>
                          <a:ea typeface="Onest" pitchFamily="34" charset="-122"/>
                          <a:cs typeface="Onest" pitchFamily="34" charset="-120"/>
                        </a:rPr>
                        <a:t>ConcurrentHashMap and List for in-memory storage</a:t>
                      </a:r>
                      <a:endParaRPr lang="en-US" sz="1600" dirty="0">
                        <a:latin typeface="Onest" charset="0"/>
                        <a:ea typeface="Onest" charset="0"/>
                        <a:cs typeface="Onest" charset="0"/>
                      </a:endParaRPr>
                    </a:p>
                  </a:txBody>
                  <a:tcPr marL="152396" marR="152396" marT="81278" marB="81278"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3A4C9A"/>
                      </a:solidFill>
                      <a:prstDash val="solid"/>
                      <a:round/>
                      <a:headEnd type="none" w="med" len="med"/>
                      <a:tailEnd type="none" w="med" len="med"/>
                    </a:lnT>
                    <a:lnB w="12700" cap="flat" cmpd="sng" algn="ctr">
                      <a:solidFill>
                        <a:srgbClr val="3A4C9A"/>
                      </a:solidFill>
                      <a:prstDash val="solid"/>
                      <a:round/>
                      <a:headEnd type="none" w="med" len="med"/>
                      <a:tailEnd type="none" w="med" len="med"/>
                    </a:lnB>
                  </a:tcPr>
                </a:tc>
              </a:tr>
              <a:tr h="723287">
                <a:tc>
                  <a:txBody>
                    <a:bodyPr/>
                    <a:lstStyle/>
                    <a:p>
                      <a:pPr algn="l" indent="0" marL="0">
                        <a:buNone/>
                      </a:pPr>
                      <a:r>
                        <a:rPr lang="en-US" sz="1600" b="1" dirty="0">
                          <a:solidFill>
                            <a:srgbClr val="E9EEFF"/>
                          </a:solidFill>
                          <a:latin typeface="Onest" pitchFamily="34" charset="0"/>
                          <a:ea typeface="Onest" pitchFamily="34" charset="-122"/>
                          <a:cs typeface="Onest" pitchFamily="34" charset="-120"/>
                        </a:rPr>
                        <a:t>Tools</a:t>
                      </a:r>
                      <a:endParaRPr lang="en-US" sz="1600" dirty="0">
                        <a:latin typeface="Onest" charset="0"/>
                        <a:ea typeface="Onest" charset="0"/>
                        <a:cs typeface="Onest" charset="0"/>
                      </a:endParaRPr>
                    </a:p>
                  </a:txBody>
                  <a:tcPr marL="152396" marR="152396" marT="81278" marB="81278"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3A4C9A"/>
                      </a:solidFill>
                      <a:prstDash val="solid"/>
                      <a:round/>
                      <a:headEnd type="none" w="med" len="med"/>
                      <a:tailEnd type="none" w="med" len="med"/>
                    </a:lnT>
                    <a:lnB w="12700" cap="flat" cmpd="sng" algn="ctr">
                      <a:solidFill>
                        <a:srgbClr val="0D174F"/>
                      </a:solidFill>
                      <a:prstDash val="solid"/>
                      <a:round/>
                      <a:headEnd type="none" w="med" len="med"/>
                      <a:tailEnd type="none" w="med" len="med"/>
                    </a:lnB>
                  </a:tcPr>
                </a:tc>
                <a:tc>
                  <a:txBody>
                    <a:bodyPr/>
                    <a:lstStyle/>
                    <a:p>
                      <a:pPr algn="l" indent="0" marL="0">
                        <a:buNone/>
                      </a:pPr>
                      <a:r>
                        <a:rPr lang="en-US" sz="1600" dirty="0">
                          <a:solidFill>
                            <a:srgbClr val="E9EEFF"/>
                          </a:solidFill>
                          <a:latin typeface="Onest" pitchFamily="34" charset="0"/>
                          <a:ea typeface="Onest" pitchFamily="34" charset="-122"/>
                          <a:cs typeface="Onest" pitchFamily="34" charset="-120"/>
                        </a:rPr>
                        <a:t>Maven · Git · GitHub · IDE · embedded Tomcat</a:t>
                      </a:r>
                      <a:endParaRPr lang="en-US" sz="1600" dirty="0">
                        <a:latin typeface="Onest" charset="0"/>
                        <a:ea typeface="Onest" charset="0"/>
                        <a:cs typeface="Onest" charset="0"/>
                      </a:endParaRPr>
                    </a:p>
                  </a:txBody>
                  <a:tcPr marL="152396" marR="152396" marT="81278" marB="81278" anchor="ctr">
                    <a:lnL w="12700" cap="flat" cmpd="sng" algn="ctr">
                      <a:solidFill>
                        <a:srgbClr val="0D174F"/>
                      </a:solidFill>
                      <a:prstDash val="solid"/>
                      <a:round/>
                      <a:headEnd type="none" w="med" len="med"/>
                      <a:tailEnd type="none" w="med" len="med"/>
                    </a:lnL>
                    <a:lnR w="12700" cap="flat" cmpd="sng" algn="ctr">
                      <a:solidFill>
                        <a:srgbClr val="0D174F"/>
                      </a:solidFill>
                      <a:prstDash val="solid"/>
                      <a:round/>
                      <a:headEnd type="none" w="med" len="med"/>
                      <a:tailEnd type="none" w="med" len="med"/>
                    </a:lnR>
                    <a:lnT w="12700" cap="flat" cmpd="sng" algn="ctr">
                      <a:solidFill>
                        <a:srgbClr val="3A4C9A"/>
                      </a:solidFill>
                      <a:prstDash val="solid"/>
                      <a:round/>
                      <a:headEnd type="none" w="med" len="med"/>
                      <a:tailEnd type="none" w="med" len="med"/>
                    </a:lnT>
                    <a:lnB w="12700" cap="flat" cmpd="sng" algn="ctr">
                      <a:solidFill>
                        <a:srgbClr val="0D174F"/>
                      </a:solidFill>
                      <a:prstDash val="solid"/>
                      <a:round/>
                      <a:headEnd type="none" w="med" len="med"/>
                      <a:tailEnd type="none" w="med" len="med"/>
                    </a:lnB>
                  </a:tcPr>
                </a:tc>
              </a:tr>
            </a:tbl>
          </a:graphicData>
        </a:graphic>
      </p:graphicFrame>
      <p:sp>
        <p:nvSpPr>
          <p:cNvPr id="5" name="Text 2"/>
          <p:cNvSpPr/>
          <p:nvPr/>
        </p:nvSpPr>
        <p:spPr>
          <a:xfrm>
            <a:off x="6248244" y="2142629"/>
            <a:ext cx="5333867" cy="377130"/>
          </a:xfrm>
          <a:prstGeom prst="rect">
            <a:avLst/>
          </a:prstGeom>
          <a:noFill/>
          <a:ln/>
        </p:spPr>
        <p:txBody>
          <a:bodyPr wrap="none" lIns="0" tIns="0" rIns="0" bIns="0" rtlCol="0" anchor="t"/>
          <a:lstStyle/>
          <a:p>
            <a:pPr algn="l" indent="0" marL="0">
              <a:lnSpc>
                <a:spcPct val="113000"/>
              </a:lnSpc>
              <a:buNone/>
            </a:pPr>
            <a:r>
              <a:rPr lang="en-US" sz="2200" dirty="0">
                <a:solidFill>
                  <a:srgbClr val="B4C2EC"/>
                </a:solidFill>
                <a:latin typeface="Onest" pitchFamily="34" charset="0"/>
                <a:ea typeface="Onest" pitchFamily="34" charset="-122"/>
                <a:cs typeface="Onest" pitchFamily="34" charset="-120"/>
              </a:rPr>
              <a:t>What I achieved</a:t>
            </a:r>
            <a:endParaRPr lang="en-US" sz="2200" dirty="0"/>
          </a:p>
        </p:txBody>
      </p:sp>
      <p:sp>
        <p:nvSpPr>
          <p:cNvPr id="6" name="Shape 3"/>
          <p:cNvSpPr/>
          <p:nvPr/>
        </p:nvSpPr>
        <p:spPr>
          <a:xfrm>
            <a:off x="6248244" y="2759472"/>
            <a:ext cx="234547" cy="31651"/>
          </a:xfrm>
          <a:prstGeom prst="roundRect">
            <a:avLst>
              <a:gd name="adj" fmla="val 49998"/>
            </a:avLst>
          </a:prstGeom>
          <a:solidFill>
            <a:srgbClr val="FF6A3D"/>
          </a:solidFill>
          <a:ln/>
        </p:spPr>
      </p:sp>
      <p:sp>
        <p:nvSpPr>
          <p:cNvPr id="7" name="Text 4"/>
          <p:cNvSpPr/>
          <p:nvPr/>
        </p:nvSpPr>
        <p:spPr>
          <a:xfrm>
            <a:off x="6248244" y="2954734"/>
            <a:ext cx="5333867" cy="1223169"/>
          </a:xfrm>
          <a:prstGeom prst="rect">
            <a:avLst/>
          </a:prstGeom>
          <a:noFill/>
          <a:ln/>
        </p:spPr>
        <p:txBody>
          <a:bodyPr wrap="square" lIns="0" tIns="0" rIns="0" bIns="0" rtlCol="0" anchor="t">
            <a:normAutofit/>
          </a:bodyPr>
          <a:lstStyle/>
          <a:p>
            <a:pPr algn="l" marL="325120" indent="-325120">
              <a:lnSpc>
                <a:spcPct val="115000"/>
              </a:lnSpc>
              <a:buSzPct val="100000"/>
              <a:buChar char="•"/>
            </a:pPr>
            <a:r>
              <a:rPr lang="en-US" sz="1600" b="1" dirty="0">
                <a:solidFill>
                  <a:srgbClr val="E9EEFF"/>
                </a:solidFill>
                <a:latin typeface="Onest Bold" pitchFamily="34" charset="0"/>
                <a:ea typeface="Onest Bold" pitchFamily="34" charset="-122"/>
                <a:cs typeface="Onest Bold" pitchFamily="34" charset="-120"/>
              </a:rPr>
              <a:t>Built:</a:t>
            </a:r>
            <a:pPr algn="l" marL="325120" indent="-325120">
              <a:lnSpc>
                <a:spcPct val="115000"/>
              </a:lnSpc>
              <a:buSzPct val="100000"/>
              <a:buChar char="•"/>
            </a:pPr>
            <a:r>
              <a:rPr lang="en-US" sz="1600" dirty="0">
                <a:solidFill>
                  <a:srgbClr val="E9EEFF"/>
                </a:solidFill>
                <a:latin typeface="Onest" pitchFamily="34" charset="0"/>
                <a:ea typeface="Onest" pitchFamily="34" charset="-122"/>
                <a:cs typeface="Onest" pitchFamily="34" charset="-120"/>
              </a:rPr>
              <a:t> Dashboard and employee pages</a:t>
            </a:r>
            <a:endParaRPr lang="en-US" sz="1600" dirty="0"/>
          </a:p>
          <a:p>
            <a:pPr algn="l" marL="325120" indent="-325120">
              <a:lnSpc>
                <a:spcPct val="115000"/>
              </a:lnSpc>
              <a:buSzPct val="100000"/>
              <a:buChar char="•"/>
            </a:pPr>
            <a:r>
              <a:rPr lang="en-US" sz="1600" b="1" dirty="0">
                <a:solidFill>
                  <a:srgbClr val="E9EEFF"/>
                </a:solidFill>
                <a:latin typeface="Onest Bold" pitchFamily="34" charset="0"/>
                <a:ea typeface="Onest Bold" pitchFamily="34" charset="-122"/>
                <a:cs typeface="Onest Bold" pitchFamily="34" charset="-120"/>
              </a:rPr>
              <a:t>Implemented:</a:t>
            </a:r>
            <a:pPr algn="l" marL="325120" indent="-325120">
              <a:lnSpc>
                <a:spcPct val="115000"/>
              </a:lnSpc>
              <a:buSzPct val="100000"/>
              <a:buChar char="•"/>
            </a:pPr>
            <a:r>
              <a:rPr lang="en-US" sz="1600" dirty="0">
                <a:solidFill>
                  <a:srgbClr val="E9EEFF"/>
                </a:solidFill>
                <a:latin typeface="Onest" pitchFamily="34" charset="0"/>
                <a:ea typeface="Onest" pitchFamily="34" charset="-122"/>
                <a:cs typeface="Onest" pitchFamily="34" charset="-120"/>
              </a:rPr>
              <a:t> Forms and search</a:t>
            </a:r>
            <a:endParaRPr lang="en-US" sz="1600" dirty="0"/>
          </a:p>
          <a:p>
            <a:pPr algn="l" marL="325120" indent="-325120">
              <a:lnSpc>
                <a:spcPct val="115000"/>
              </a:lnSpc>
              <a:buSzPct val="100000"/>
              <a:buChar char="•"/>
            </a:pPr>
            <a:r>
              <a:rPr lang="en-US" sz="1600" b="1" dirty="0">
                <a:solidFill>
                  <a:srgbClr val="E9EEFF"/>
                </a:solidFill>
                <a:latin typeface="Onest Bold" pitchFamily="34" charset="0"/>
                <a:ea typeface="Onest Bold" pitchFamily="34" charset="-122"/>
                <a:cs typeface="Onest Bold" pitchFamily="34" charset="-120"/>
              </a:rPr>
              <a:t>Practised:</a:t>
            </a:r>
            <a:pPr algn="l" marL="325120" indent="-325120">
              <a:lnSpc>
                <a:spcPct val="115000"/>
              </a:lnSpc>
              <a:buSzPct val="100000"/>
              <a:buChar char="•"/>
            </a:pPr>
            <a:r>
              <a:rPr lang="en-US" sz="1600" dirty="0">
                <a:solidFill>
                  <a:srgbClr val="E9EEFF"/>
                </a:solidFill>
                <a:latin typeface="Onest" pitchFamily="34" charset="0"/>
                <a:ea typeface="Onest" pitchFamily="34" charset="-122"/>
                <a:cs typeface="Onest" pitchFamily="34" charset="-120"/>
              </a:rPr>
              <a:t> Validation, testing, OOP, and layered architecture</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09585" y="3359416"/>
            <a:ext cx="3200320" cy="896045"/>
          </a:xfrm>
          <a:prstGeom prst="rect">
            <a:avLst/>
          </a:prstGeom>
          <a:noFill/>
          <a:ln/>
        </p:spPr>
        <p:txBody>
          <a:bodyPr wrap="none" lIns="0" tIns="0" rIns="0" bIns="0" rtlCol="0" anchor="t"/>
          <a:lstStyle/>
          <a:p>
            <a:pPr algn="l" indent="0" marL="0">
              <a:lnSpc>
                <a:spcPct val="82000"/>
              </a:lnSpc>
              <a:buNone/>
            </a:pPr>
            <a:r>
              <a:rPr lang="en-US" sz="7200" spc="-144" kern="100" dirty="0">
                <a:solidFill>
                  <a:srgbClr val="FF6A3D"/>
                </a:solidFill>
                <a:latin typeface="Familjen Grotesk" pitchFamily="34" charset="0"/>
                <a:ea typeface="Familjen Grotesk" pitchFamily="34" charset="-122"/>
                <a:cs typeface="Familjen Grotesk" pitchFamily="34" charset="-120"/>
              </a:rPr>
              <a:t>08</a:t>
            </a:r>
            <a:endParaRPr lang="en-US" sz="7200" dirty="0"/>
          </a:p>
        </p:txBody>
      </p:sp>
      <p:sp>
        <p:nvSpPr>
          <p:cNvPr id="3" name="Text 1"/>
          <p:cNvSpPr/>
          <p:nvPr/>
        </p:nvSpPr>
        <p:spPr>
          <a:xfrm>
            <a:off x="4228895" y="657999"/>
            <a:ext cx="2995934" cy="194965"/>
          </a:xfrm>
          <a:prstGeom prst="rect">
            <a:avLst/>
          </a:prstGeom>
          <a:noFill/>
          <a:ln/>
        </p:spPr>
        <p:txBody>
          <a:bodyPr wrap="none" lIns="0" tIns="0" rIns="0" bIns="0" rtlCol="0" anchor="t"/>
          <a:lstStyle/>
          <a:p>
            <a:pPr algn="l" indent="0" marL="0">
              <a:lnSpc>
                <a:spcPct val="100000"/>
              </a:lnSpc>
              <a:buNone/>
            </a:pPr>
            <a:r>
              <a:rPr lang="en-US" sz="1300" spc="128" kern="100" dirty="0">
                <a:solidFill>
                  <a:srgbClr val="FFFFFF"/>
                </a:solidFill>
                <a:latin typeface="Onest SemiBold" pitchFamily="34" charset="0"/>
                <a:ea typeface="Onest SemiBold" pitchFamily="34" charset="-122"/>
                <a:cs typeface="Onest SemiBold" pitchFamily="34" charset="-120"/>
              </a:rPr>
              <a:t>08 · LEARNING OUTCOME</a:t>
            </a:r>
            <a:endParaRPr lang="en-US" sz="1300" dirty="0"/>
          </a:p>
        </p:txBody>
      </p:sp>
      <p:sp>
        <p:nvSpPr>
          <p:cNvPr id="4" name="Text 2"/>
          <p:cNvSpPr/>
          <p:nvPr/>
        </p:nvSpPr>
        <p:spPr>
          <a:xfrm>
            <a:off x="4114598" y="1051525"/>
            <a:ext cx="7467512" cy="880864"/>
          </a:xfrm>
          <a:prstGeom prst="rect">
            <a:avLst/>
          </a:prstGeom>
          <a:noFill/>
          <a:ln/>
        </p:spPr>
        <p:txBody>
          <a:bodyPr wrap="square" lIns="0" tIns="0" rIns="0" bIns="0" rtlCol="0" anchor="t">
            <a:normAutofit/>
          </a:bodyPr>
          <a:lstStyle/>
          <a:p>
            <a:pPr algn="l" indent="0" marL="0">
              <a:lnSpc>
                <a:spcPct val="85000"/>
              </a:lnSpc>
              <a:buNone/>
            </a:pPr>
            <a:r>
              <a:rPr lang="en-US" sz="3400" b="1" spc="-85" kern="100" dirty="0">
                <a:solidFill>
                  <a:srgbClr val="FFFFFF"/>
                </a:solidFill>
                <a:latin typeface="Familjen Grotesk Bold" pitchFamily="34" charset="0"/>
                <a:ea typeface="Familjen Grotesk Bold" pitchFamily="34" charset="-122"/>
                <a:cs typeface="Familjen Grotesk Bold" pitchFamily="34" charset="-120"/>
              </a:rPr>
              <a:t>The internship strengthened both technical skill and delivery confidence</a:t>
            </a:r>
            <a:endParaRPr lang="en-US" sz="3400" dirty="0"/>
          </a:p>
        </p:txBody>
      </p:sp>
      <p:sp>
        <p:nvSpPr>
          <p:cNvPr id="5" name="Text 3"/>
          <p:cNvSpPr/>
          <p:nvPr/>
        </p:nvSpPr>
        <p:spPr>
          <a:xfrm>
            <a:off x="4114598" y="2142629"/>
            <a:ext cx="7467512" cy="560784"/>
          </a:xfrm>
          <a:prstGeom prst="rect">
            <a:avLst/>
          </a:prstGeom>
          <a:noFill/>
          <a:ln/>
        </p:spPr>
        <p:txBody>
          <a:bodyPr wrap="square" lIns="0" tIns="0" rIns="0" bIns="0" rtlCol="0" anchor="t">
            <a:normAutofit/>
          </a:bodyPr>
          <a:lstStyle/>
          <a:p>
            <a:pPr algn="l" indent="0" marL="0">
              <a:lnSpc>
                <a:spcPct val="115000"/>
              </a:lnSpc>
              <a:buNone/>
            </a:pPr>
            <a:r>
              <a:rPr lang="en-US" sz="1600" dirty="0">
                <a:solidFill>
                  <a:srgbClr val="E9EEFF"/>
                </a:solidFill>
                <a:latin typeface="Onest" pitchFamily="34" charset="0"/>
                <a:ea typeface="Onest" pitchFamily="34" charset="-122"/>
                <a:cs typeface="Onest" pitchFamily="34" charset="-120"/>
              </a:rPr>
              <a:t>Classroom Java and OOP became a complete portal, with architecture, testing, and debugging in practice.</a:t>
            </a:r>
            <a:endParaRPr lang="en-US" sz="1600" dirty="0"/>
          </a:p>
        </p:txBody>
      </p:sp>
      <p:sp>
        <p:nvSpPr>
          <p:cNvPr id="6" name="Shape 4"/>
          <p:cNvSpPr/>
          <p:nvPr/>
        </p:nvSpPr>
        <p:spPr>
          <a:xfrm>
            <a:off x="4114598" y="2817713"/>
            <a:ext cx="3657509" cy="1902520"/>
          </a:xfrm>
          <a:prstGeom prst="roundRect">
            <a:avLst>
              <a:gd name="adj" fmla="val 6408"/>
            </a:avLst>
          </a:prstGeom>
          <a:solidFill>
            <a:srgbClr val="152060"/>
          </a:solidFill>
          <a:ln/>
        </p:spPr>
      </p:sp>
      <p:sp>
        <p:nvSpPr>
          <p:cNvPr id="7" name="Text 5"/>
          <p:cNvSpPr/>
          <p:nvPr/>
        </p:nvSpPr>
        <p:spPr>
          <a:xfrm>
            <a:off x="4343192" y="3046313"/>
            <a:ext cx="3200320" cy="308570"/>
          </a:xfrm>
          <a:prstGeom prst="rect">
            <a:avLst/>
          </a:prstGeom>
          <a:noFill/>
          <a:ln/>
        </p:spPr>
        <p:txBody>
          <a:bodyPr wrap="none" lIns="0" tIns="0" rIns="0" bIns="0" rtlCol="0" anchor="t"/>
          <a:lstStyle/>
          <a:p>
            <a:pPr algn="l" indent="0" marL="0">
              <a:lnSpc>
                <a:spcPct val="113000"/>
              </a:lnSpc>
              <a:buNone/>
            </a:pPr>
            <a:r>
              <a:rPr lang="en-US" sz="1800" dirty="0">
                <a:solidFill>
                  <a:srgbClr val="E9EEFF"/>
                </a:solidFill>
                <a:latin typeface="Onest" pitchFamily="34" charset="0"/>
                <a:ea typeface="Onest" pitchFamily="34" charset="-122"/>
                <a:cs typeface="Onest" pitchFamily="34" charset="-120"/>
              </a:rPr>
              <a:t>Applied</a:t>
            </a:r>
            <a:endParaRPr lang="en-US" sz="1800" dirty="0"/>
          </a:p>
        </p:txBody>
      </p:sp>
      <p:sp>
        <p:nvSpPr>
          <p:cNvPr id="8" name="Text 6"/>
          <p:cNvSpPr/>
          <p:nvPr/>
        </p:nvSpPr>
        <p:spPr>
          <a:xfrm>
            <a:off x="4343192" y="3545384"/>
            <a:ext cx="3200320" cy="630833"/>
          </a:xfrm>
          <a:prstGeom prst="rect">
            <a:avLst/>
          </a:prstGeom>
          <a:noFill/>
          <a:ln/>
        </p:spPr>
        <p:txBody>
          <a:bodyPr wrap="square" lIns="0" tIns="0" rIns="0" bIns="0" rtlCol="0" anchor="t">
            <a:normAutofit/>
          </a:bodyPr>
          <a:lstStyle/>
          <a:p>
            <a:pPr algn="l" indent="0" marL="0">
              <a:lnSpc>
                <a:spcPct val="115000"/>
              </a:lnSpc>
              <a:buNone/>
            </a:pPr>
            <a:r>
              <a:rPr lang="en-US" sz="1800" dirty="0">
                <a:solidFill>
                  <a:srgbClr val="E9EEFF"/>
                </a:solidFill>
                <a:latin typeface="Onest" pitchFamily="34" charset="0"/>
                <a:ea typeface="Onest" pitchFamily="34" charset="-122"/>
                <a:cs typeface="Onest" pitchFamily="34" charset="-120"/>
              </a:rPr>
              <a:t>Java and OOP concepts to a complete portal</a:t>
            </a:r>
            <a:endParaRPr lang="en-US" sz="1800" dirty="0"/>
          </a:p>
        </p:txBody>
      </p:sp>
      <p:sp>
        <p:nvSpPr>
          <p:cNvPr id="9" name="Shape 7"/>
          <p:cNvSpPr/>
          <p:nvPr/>
        </p:nvSpPr>
        <p:spPr>
          <a:xfrm>
            <a:off x="7924503" y="2817713"/>
            <a:ext cx="3657608" cy="1902520"/>
          </a:xfrm>
          <a:prstGeom prst="roundRect">
            <a:avLst>
              <a:gd name="adj" fmla="val 6408"/>
            </a:avLst>
          </a:prstGeom>
          <a:solidFill>
            <a:srgbClr val="152060"/>
          </a:solidFill>
          <a:ln/>
        </p:spPr>
      </p:sp>
      <p:sp>
        <p:nvSpPr>
          <p:cNvPr id="10" name="Text 8"/>
          <p:cNvSpPr/>
          <p:nvPr/>
        </p:nvSpPr>
        <p:spPr>
          <a:xfrm>
            <a:off x="8153097" y="3046313"/>
            <a:ext cx="3200419" cy="308570"/>
          </a:xfrm>
          <a:prstGeom prst="rect">
            <a:avLst/>
          </a:prstGeom>
          <a:noFill/>
          <a:ln/>
        </p:spPr>
        <p:txBody>
          <a:bodyPr wrap="none" lIns="0" tIns="0" rIns="0" bIns="0" rtlCol="0" anchor="t"/>
          <a:lstStyle/>
          <a:p>
            <a:pPr algn="l" indent="0" marL="0">
              <a:lnSpc>
                <a:spcPct val="113000"/>
              </a:lnSpc>
              <a:buNone/>
            </a:pPr>
            <a:r>
              <a:rPr lang="en-US" sz="1800" dirty="0">
                <a:solidFill>
                  <a:srgbClr val="E9EEFF"/>
                </a:solidFill>
                <a:latin typeface="Onest" pitchFamily="34" charset="0"/>
                <a:ea typeface="Onest" pitchFamily="34" charset="-122"/>
                <a:cs typeface="Onest" pitchFamily="34" charset="-120"/>
              </a:rPr>
              <a:t>Practised</a:t>
            </a:r>
            <a:endParaRPr lang="en-US" sz="1800" dirty="0"/>
          </a:p>
        </p:txBody>
      </p:sp>
      <p:sp>
        <p:nvSpPr>
          <p:cNvPr id="11" name="Text 9"/>
          <p:cNvSpPr/>
          <p:nvPr/>
        </p:nvSpPr>
        <p:spPr>
          <a:xfrm>
            <a:off x="8153097" y="3545384"/>
            <a:ext cx="3200419" cy="946249"/>
          </a:xfrm>
          <a:prstGeom prst="rect">
            <a:avLst/>
          </a:prstGeom>
          <a:noFill/>
          <a:ln/>
        </p:spPr>
        <p:txBody>
          <a:bodyPr wrap="square" lIns="0" tIns="0" rIns="0" bIns="0" rtlCol="0" anchor="t">
            <a:normAutofit/>
          </a:bodyPr>
          <a:lstStyle/>
          <a:p>
            <a:pPr algn="l" indent="0" marL="0">
              <a:lnSpc>
                <a:spcPct val="115000"/>
              </a:lnSpc>
              <a:buNone/>
            </a:pPr>
            <a:r>
              <a:rPr lang="en-US" sz="1800" dirty="0">
                <a:solidFill>
                  <a:srgbClr val="E9EEFF"/>
                </a:solidFill>
                <a:latin typeface="Onest" pitchFamily="34" charset="0"/>
                <a:ea typeface="Onest" pitchFamily="34" charset="-122"/>
                <a:cs typeface="Onest" pitchFamily="34" charset="-120"/>
              </a:rPr>
              <a:t>Spring Boot, Thymeleaf views, responsive UI, testing, debugging</a:t>
            </a:r>
            <a:endParaRPr lang="en-US" sz="1800" dirty="0"/>
          </a:p>
        </p:txBody>
      </p:sp>
      <p:sp>
        <p:nvSpPr>
          <p:cNvPr id="12" name="Shape 10"/>
          <p:cNvSpPr/>
          <p:nvPr/>
        </p:nvSpPr>
        <p:spPr>
          <a:xfrm>
            <a:off x="4114598" y="4872633"/>
            <a:ext cx="3657509" cy="1902520"/>
          </a:xfrm>
          <a:prstGeom prst="roundRect">
            <a:avLst>
              <a:gd name="adj" fmla="val 6408"/>
            </a:avLst>
          </a:prstGeom>
          <a:solidFill>
            <a:srgbClr val="152060"/>
          </a:solidFill>
          <a:ln/>
        </p:spPr>
      </p:sp>
      <p:sp>
        <p:nvSpPr>
          <p:cNvPr id="13" name="Text 11"/>
          <p:cNvSpPr/>
          <p:nvPr/>
        </p:nvSpPr>
        <p:spPr>
          <a:xfrm>
            <a:off x="4343192" y="5101233"/>
            <a:ext cx="3200320" cy="308570"/>
          </a:xfrm>
          <a:prstGeom prst="rect">
            <a:avLst/>
          </a:prstGeom>
          <a:noFill/>
          <a:ln/>
        </p:spPr>
        <p:txBody>
          <a:bodyPr wrap="none" lIns="0" tIns="0" rIns="0" bIns="0" rtlCol="0" anchor="t"/>
          <a:lstStyle/>
          <a:p>
            <a:pPr algn="l" indent="0" marL="0">
              <a:lnSpc>
                <a:spcPct val="113000"/>
              </a:lnSpc>
              <a:buNone/>
            </a:pPr>
            <a:r>
              <a:rPr lang="en-US" sz="1800" dirty="0">
                <a:solidFill>
                  <a:srgbClr val="E9EEFF"/>
                </a:solidFill>
                <a:latin typeface="Onest" pitchFamily="34" charset="0"/>
                <a:ea typeface="Onest" pitchFamily="34" charset="-122"/>
                <a:cs typeface="Onest" pitchFamily="34" charset="-120"/>
              </a:rPr>
              <a:t>Separated</a:t>
            </a:r>
            <a:endParaRPr lang="en-US" sz="1800" dirty="0"/>
          </a:p>
        </p:txBody>
      </p:sp>
      <p:sp>
        <p:nvSpPr>
          <p:cNvPr id="14" name="Text 12"/>
          <p:cNvSpPr/>
          <p:nvPr/>
        </p:nvSpPr>
        <p:spPr>
          <a:xfrm>
            <a:off x="4343192" y="5600303"/>
            <a:ext cx="3200320" cy="630833"/>
          </a:xfrm>
          <a:prstGeom prst="rect">
            <a:avLst/>
          </a:prstGeom>
          <a:noFill/>
          <a:ln/>
        </p:spPr>
        <p:txBody>
          <a:bodyPr wrap="square" lIns="0" tIns="0" rIns="0" bIns="0" rtlCol="0" anchor="t">
            <a:normAutofit/>
          </a:bodyPr>
          <a:lstStyle/>
          <a:p>
            <a:pPr algn="l" indent="0" marL="0">
              <a:lnSpc>
                <a:spcPct val="115000"/>
              </a:lnSpc>
              <a:buNone/>
            </a:pPr>
            <a:r>
              <a:rPr lang="en-US" sz="1800" dirty="0">
                <a:solidFill>
                  <a:srgbClr val="E9EEFF"/>
                </a:solidFill>
                <a:latin typeface="Onest" pitchFamily="34" charset="0"/>
                <a:ea typeface="Onest" pitchFamily="34" charset="-122"/>
                <a:cs typeface="Onest" pitchFamily="34" charset="-120"/>
              </a:rPr>
              <a:t>Presentation, business logic, and data access</a:t>
            </a:r>
            <a:endParaRPr lang="en-US" sz="1800" dirty="0"/>
          </a:p>
        </p:txBody>
      </p:sp>
      <p:sp>
        <p:nvSpPr>
          <p:cNvPr id="15" name="Shape 13"/>
          <p:cNvSpPr/>
          <p:nvPr/>
        </p:nvSpPr>
        <p:spPr>
          <a:xfrm>
            <a:off x="7924503" y="4872633"/>
            <a:ext cx="3657608" cy="1902520"/>
          </a:xfrm>
          <a:prstGeom prst="roundRect">
            <a:avLst>
              <a:gd name="adj" fmla="val 6408"/>
            </a:avLst>
          </a:prstGeom>
          <a:solidFill>
            <a:srgbClr val="152060"/>
          </a:solidFill>
          <a:ln/>
        </p:spPr>
      </p:sp>
      <p:sp>
        <p:nvSpPr>
          <p:cNvPr id="16" name="Text 14"/>
          <p:cNvSpPr/>
          <p:nvPr/>
        </p:nvSpPr>
        <p:spPr>
          <a:xfrm>
            <a:off x="8153097" y="5101233"/>
            <a:ext cx="3200419" cy="308570"/>
          </a:xfrm>
          <a:prstGeom prst="rect">
            <a:avLst/>
          </a:prstGeom>
          <a:noFill/>
          <a:ln/>
        </p:spPr>
        <p:txBody>
          <a:bodyPr wrap="none" lIns="0" tIns="0" rIns="0" bIns="0" rtlCol="0" anchor="t"/>
          <a:lstStyle/>
          <a:p>
            <a:pPr algn="l" indent="0" marL="0">
              <a:lnSpc>
                <a:spcPct val="113000"/>
              </a:lnSpc>
              <a:buNone/>
            </a:pPr>
            <a:r>
              <a:rPr lang="en-US" sz="1800" dirty="0">
                <a:solidFill>
                  <a:srgbClr val="E9EEFF"/>
                </a:solidFill>
                <a:latin typeface="Onest" pitchFamily="34" charset="0"/>
                <a:ea typeface="Onest" pitchFamily="34" charset="-122"/>
                <a:cs typeface="Onest" pitchFamily="34" charset="-120"/>
              </a:rPr>
              <a:t>Built</a:t>
            </a:r>
            <a:endParaRPr lang="en-US" sz="1800" dirty="0"/>
          </a:p>
        </p:txBody>
      </p:sp>
      <p:sp>
        <p:nvSpPr>
          <p:cNvPr id="17" name="Text 15"/>
          <p:cNvSpPr/>
          <p:nvPr/>
        </p:nvSpPr>
        <p:spPr>
          <a:xfrm>
            <a:off x="8153097" y="5600303"/>
            <a:ext cx="3200419" cy="946249"/>
          </a:xfrm>
          <a:prstGeom prst="rect">
            <a:avLst/>
          </a:prstGeom>
          <a:noFill/>
          <a:ln/>
        </p:spPr>
        <p:txBody>
          <a:bodyPr wrap="square" lIns="0" tIns="0" rIns="0" bIns="0" rtlCol="0" anchor="t">
            <a:normAutofit/>
          </a:bodyPr>
          <a:lstStyle/>
          <a:p>
            <a:pPr algn="l" indent="0" marL="0">
              <a:lnSpc>
                <a:spcPct val="115000"/>
              </a:lnSpc>
              <a:buNone/>
            </a:pPr>
            <a:r>
              <a:rPr lang="en-US" sz="1800" dirty="0">
                <a:solidFill>
                  <a:srgbClr val="E9EEFF"/>
                </a:solidFill>
                <a:latin typeface="Onest" pitchFamily="34" charset="0"/>
                <a:ea typeface="Onest" pitchFamily="34" charset="-122"/>
                <a:cs typeface="Onest" pitchFamily="34" charset="-120"/>
              </a:rPr>
              <a:t>A stronger foundation for professional web development</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803755" y="943253"/>
            <a:ext cx="2415916" cy="194965"/>
          </a:xfrm>
          <a:prstGeom prst="rect">
            <a:avLst/>
          </a:prstGeom>
          <a:noFill/>
          <a:ln/>
        </p:spPr>
        <p:txBody>
          <a:bodyPr wrap="none" lIns="0" tIns="0" rIns="0" bIns="0" rtlCol="0" anchor="t"/>
          <a:lstStyle/>
          <a:p>
            <a:pPr algn="l" indent="0" marL="0">
              <a:lnSpc>
                <a:spcPct val="100000"/>
              </a:lnSpc>
              <a:buNone/>
            </a:pPr>
            <a:r>
              <a:rPr lang="en-US" sz="1300" spc="128" kern="100" dirty="0">
                <a:solidFill>
                  <a:srgbClr val="FFFFFF"/>
                </a:solidFill>
                <a:latin typeface="Onest SemiBold" pitchFamily="34" charset="0"/>
                <a:ea typeface="Onest SemiBold" pitchFamily="34" charset="-122"/>
                <a:cs typeface="Onest SemiBold" pitchFamily="34" charset="-120"/>
              </a:rPr>
              <a:t>09 · CLOSING VIEW</a:t>
            </a:r>
            <a:endParaRPr lang="en-US" sz="1300" dirty="0"/>
          </a:p>
        </p:txBody>
      </p:sp>
      <p:sp>
        <p:nvSpPr>
          <p:cNvPr id="3" name="Text 1"/>
          <p:cNvSpPr/>
          <p:nvPr/>
        </p:nvSpPr>
        <p:spPr>
          <a:xfrm>
            <a:off x="5689458" y="1351283"/>
            <a:ext cx="5892653" cy="1709738"/>
          </a:xfrm>
          <a:prstGeom prst="rect">
            <a:avLst/>
          </a:prstGeom>
          <a:noFill/>
          <a:ln/>
        </p:spPr>
        <p:txBody>
          <a:bodyPr wrap="square" lIns="0" tIns="0" rIns="0" bIns="0" rtlCol="0" anchor="t">
            <a:normAutofit/>
          </a:bodyPr>
          <a:lstStyle/>
          <a:p>
            <a:pPr algn="l" indent="0" marL="0">
              <a:lnSpc>
                <a:spcPct val="85000"/>
              </a:lnSpc>
              <a:buNone/>
            </a:pPr>
            <a:r>
              <a:rPr lang="en-US" sz="4400" b="1" spc="-110" kern="100" dirty="0">
                <a:solidFill>
                  <a:srgbClr val="FFFFFF"/>
                </a:solidFill>
                <a:latin typeface="Familjen Grotesk Bold" pitchFamily="34" charset="0"/>
                <a:ea typeface="Familjen Grotesk Bold" pitchFamily="34" charset="-122"/>
                <a:cs typeface="Familjen Grotesk Bold" pitchFamily="34" charset="-120"/>
              </a:rPr>
              <a:t>HeroHub is a foundation for future production work</a:t>
            </a:r>
            <a:endParaRPr lang="en-US" sz="4400" dirty="0"/>
          </a:p>
        </p:txBody>
      </p:sp>
      <p:sp>
        <p:nvSpPr>
          <p:cNvPr id="4" name="Text 2"/>
          <p:cNvSpPr/>
          <p:nvPr/>
        </p:nvSpPr>
        <p:spPr>
          <a:xfrm>
            <a:off x="5689458" y="3256756"/>
            <a:ext cx="5892653" cy="2248098"/>
          </a:xfrm>
          <a:prstGeom prst="rect">
            <a:avLst/>
          </a:prstGeom>
          <a:noFill/>
          <a:ln/>
        </p:spPr>
        <p:txBody>
          <a:bodyPr wrap="square" lIns="0" tIns="0" rIns="0" bIns="0" rtlCol="0" anchor="t">
            <a:normAutofit/>
          </a:bodyPr>
          <a:lstStyle/>
          <a:p>
            <a:pPr algn="l" indent="0" marL="0">
              <a:lnSpc>
                <a:spcPct val="115000"/>
              </a:lnSpc>
              <a:spcAft>
                <a:spcPts val="1350"/>
              </a:spcAft>
              <a:buNone/>
            </a:pPr>
            <a:r>
              <a:rPr lang="en-US" sz="1800" b="1" dirty="0">
                <a:solidFill>
                  <a:srgbClr val="FFFFFF"/>
                </a:solidFill>
                <a:latin typeface="Onest Bold" pitchFamily="34" charset="0"/>
                <a:ea typeface="Onest Bold" pitchFamily="34" charset="-122"/>
                <a:cs typeface="Onest Bold" pitchFamily="34" charset="-120"/>
              </a:rPr>
              <a:t>Completed:</a:t>
            </a:r>
            <a:pPr algn="l" indent="0" marL="0">
              <a:lnSpc>
                <a:spcPct val="115000"/>
              </a:lnSpc>
              <a:spcAft>
                <a:spcPts val="1350"/>
              </a:spcAft>
              <a:buNone/>
            </a:pPr>
            <a:r>
              <a:rPr lang="en-US" sz="1800" dirty="0">
                <a:solidFill>
                  <a:srgbClr val="FFFFFF"/>
                </a:solidFill>
                <a:latin typeface="Onest" pitchFamily="34" charset="0"/>
                <a:ea typeface="Onest" pitchFamily="34" charset="-122"/>
                <a:cs typeface="Onest" pitchFamily="34" charset="-120"/>
              </a:rPr>
              <a:t> 30-day internship and a working employee portal</a:t>
            </a:r>
            <a:endParaRPr lang="en-US" sz="1800" dirty="0"/>
          </a:p>
          <a:p>
            <a:pPr algn="l" indent="0" marL="0">
              <a:lnSpc>
                <a:spcPct val="115000"/>
              </a:lnSpc>
              <a:spcAft>
                <a:spcPts val="1350"/>
              </a:spcAft>
              <a:buNone/>
            </a:pPr>
            <a:r>
              <a:rPr lang="en-US" sz="1800" b="1" dirty="0">
                <a:solidFill>
                  <a:srgbClr val="FFFFFF"/>
                </a:solidFill>
                <a:latin typeface="Onest Bold" pitchFamily="34" charset="0"/>
                <a:ea typeface="Onest Bold" pitchFamily="34" charset="-122"/>
                <a:cs typeface="Onest Bold" pitchFamily="34" charset="-120"/>
              </a:rPr>
              <a:t>Learned:</a:t>
            </a:r>
            <a:pPr algn="l" indent="0" marL="0">
              <a:lnSpc>
                <a:spcPct val="115000"/>
              </a:lnSpc>
              <a:spcAft>
                <a:spcPts val="1350"/>
              </a:spcAft>
              <a:buNone/>
            </a:pPr>
            <a:r>
              <a:rPr lang="en-US" sz="1800" dirty="0">
                <a:solidFill>
                  <a:srgbClr val="FFFFFF"/>
                </a:solidFill>
                <a:latin typeface="Onest" pitchFamily="34" charset="0"/>
                <a:ea typeface="Onest" pitchFamily="34" charset="-122"/>
                <a:cs typeface="Onest" pitchFamily="34" charset="-120"/>
              </a:rPr>
              <a:t> Java, Spring Boot, OOP, layered architecture, testing, debugging</a:t>
            </a:r>
            <a:endParaRPr lang="en-US" sz="1800" dirty="0"/>
          </a:p>
          <a:p>
            <a:pPr algn="l" indent="0" marL="0">
              <a:lnSpc>
                <a:spcPct val="115000"/>
              </a:lnSpc>
              <a:buNone/>
            </a:pPr>
            <a:r>
              <a:rPr lang="en-US" sz="1800" b="1" dirty="0">
                <a:solidFill>
                  <a:srgbClr val="FFFFFF"/>
                </a:solidFill>
                <a:latin typeface="Onest Bold" pitchFamily="34" charset="0"/>
                <a:ea typeface="Onest Bold" pitchFamily="34" charset="-122"/>
                <a:cs typeface="Onest Bold" pitchFamily="34" charset="-120"/>
              </a:rPr>
              <a:t>Future work:</a:t>
            </a:r>
            <a:pPr algn="l" indent="0" marL="0">
              <a:lnSpc>
                <a:spcPct val="115000"/>
              </a:lnSpc>
              <a:buNone/>
            </a:pPr>
            <a:r>
              <a:rPr lang="en-US" sz="1800" dirty="0">
                <a:solidFill>
                  <a:srgbClr val="FFFFFF"/>
                </a:solidFill>
                <a:latin typeface="Onest" pitchFamily="34" charset="0"/>
                <a:ea typeface="Onest" pitchFamily="34" charset="-122"/>
                <a:cs typeface="Onest" pitchFamily="34" charset="-120"/>
              </a:rPr>
              <a:t> persistent database, stronger authentication, report exports, deployment readiness</a:t>
            </a:r>
            <a:endParaRPr lang="en-US" sz="1800" dirty="0"/>
          </a:p>
        </p:txBody>
      </p:sp>
      <p:sp>
        <p:nvSpPr>
          <p:cNvPr id="5" name="Text 3"/>
          <p:cNvSpPr/>
          <p:nvPr/>
        </p:nvSpPr>
        <p:spPr>
          <a:xfrm>
            <a:off x="5689458" y="5682655"/>
            <a:ext cx="6502237" cy="280392"/>
          </a:xfrm>
          <a:prstGeom prst="rect">
            <a:avLst/>
          </a:prstGeom>
          <a:noFill/>
          <a:ln/>
        </p:spPr>
        <p:txBody>
          <a:bodyPr wrap="none" lIns="0" tIns="0" rIns="0" bIns="0" rtlCol="0" anchor="t"/>
          <a:lstStyle/>
          <a:p>
            <a:pPr algn="l" indent="0" marL="0">
              <a:lnSpc>
                <a:spcPct val="115000"/>
              </a:lnSpc>
              <a:buNone/>
            </a:pPr>
            <a:r>
              <a:rPr lang="en-US" sz="1600" spc="32" kern="100" dirty="0">
                <a:solidFill>
                  <a:srgbClr val="FFFFFF"/>
                </a:solidFill>
                <a:latin typeface="Onest" pitchFamily="34" charset="0"/>
                <a:ea typeface="Onest" pitchFamily="34" charset="-122"/>
                <a:cs typeface="Onest" pitchFamily="34" charset="-120"/>
              </a:rPr>
              <a:t>Thank you · Questions?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2026-10-21T18:21:33Z</dcterms:created>
  <dcterms:modified xsi:type="dcterms:W3CDTF">2026-10-21T18:21:33Z</dcterms:modified>
</cp:coreProperties>
</file>